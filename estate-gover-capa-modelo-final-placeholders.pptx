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153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7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971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WhatsApp link fornecido pelo PDF do digicard do usuário.
- QR code gerado a partir do link de WhatsApp.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4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WhatsApp link fornecido pelo PDF do digicard do usuário.
- QR code gerado a partir do link de WhatsApp.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4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pi.whatsapp.com/send?phone=5551981381742" TargetMode="External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pi.whatsapp.com/send?phone=5551998322906" TargetMode="Externa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edesign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63C">
              <a:alpha val="75000"/>
            </a:srgbClr>
          </a:solidFill>
          <a:ln w="12700">
            <a:solidFill>
              <a:srgbClr val="07263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B3858">
              <a:alpha val="90000"/>
            </a:srgbClr>
          </a:solidFill>
          <a:ln w="12700">
            <a:solidFill>
              <a:srgbClr val="0B3858">
                <a:alpha val="0"/>
              </a:srgbClr>
            </a:solidFill>
            <a:prstDash val="solid"/>
          </a:ln>
        </p:spPr>
        <p:txBody>
          <a:bodyPr/>
          <a:lstStyle/>
          <a:p>
            <a:endParaRPr sz="2400" dirty="0"/>
          </a:p>
        </p:txBody>
      </p:sp>
      <p:pic>
        <p:nvPicPr>
          <p:cNvPr id="5" name="Image 1" descr="/tmp/redesign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92608"/>
            <a:ext cx="1417320" cy="3291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28" y="15544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Aptos"/>
              </a:rPr>
              <a:t>ESTATE GOVER ÁREAS RURAIS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66928" y="22128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Código do ativo: {{codigo_ativo}}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66928" y="2542032"/>
            <a:ext cx="1143000" cy="0"/>
          </a:xfrm>
          <a:prstGeom prst="line">
            <a:avLst/>
          </a:prstGeom>
          <a:noFill/>
          <a:ln w="12700">
            <a:solidFill>
              <a:srgbClr val="C591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566928" y="276148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t>{{tipo_ativo}}</a:t>
            </a:r>
          </a:p>
          <a:p>
            <a:r>
              <a:t>Localização: {{localizacao}}</a:t>
            </a:r>
          </a:p>
          <a:p>
            <a:r>
              <a:t>{{chamada_capa_prudente}}</a:t>
            </a:r>
          </a:p>
        </p:txBody>
      </p:sp>
      <p:sp>
        <p:nvSpPr>
          <p:cNvPr id="10" name="Text 6"/>
          <p:cNvSpPr/>
          <p:nvPr/>
        </p:nvSpPr>
        <p:spPr>
          <a:xfrm>
            <a:off x="566928" y="42519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t>Área aproximada total: {{area_aproximada}}</a:t>
            </a:r>
          </a:p>
          <a:p>
            <a:r>
              <a:t>Contexto: {{contexto_ativo}}</a:t>
            </a:r>
          </a:p>
          <a:p>
            <a:r>
              <a:t>Status jurídico: {{status_juridico}}</a:t>
            </a:r>
          </a:p>
          <a:p>
            <a:r>
              <a:t>Faixa de investimento: {{faixa_investimento}}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96128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t>Para informações estratégicas detalhadas deste ativo ({{codigo_ativo}}), solicite a apresentação completa.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/>
            <a:r>
              <a:t>ESTATE GOVER: {{codigo_ativo}}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694944"/>
            <a:ext cx="1188720" cy="0"/>
          </a:xfrm>
          <a:prstGeom prst="line">
            <a:avLst/>
          </a:prstGeom>
          <a:noFill/>
          <a:ln w="12700">
            <a:solidFill>
              <a:srgbClr val="15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r>
              <a:rPr sz="1200" b="0">
                <a:solidFill>
                  <a:srgbClr val="1A1A1A"/>
                </a:solidFill>
                <a:latin typeface="Aptos"/>
              </a:rPr>
              <a:t>Leitura executiva do ativo com foco comercial e potencial de implantação.</a:t>
            </a:r>
          </a:p>
        </p:txBody>
      </p:sp>
      <p:pic>
        <p:nvPicPr>
          <p:cNvPr id="5" name="Image 0" descr="/tmp/redesign/ppt/media/image4.png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10698480" y="6309360"/>
            <a:ext cx="1097280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2984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/>
              </a:rPr>
              <a:t>Código: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851660" y="1279725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t>{{codigo_ativo}}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55448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/>
              </a:rPr>
              <a:t>Tipo: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51660" y="1530531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t>{{tipo_ativo}}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810512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/>
              </a:rPr>
              <a:t>Localização: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851660" y="179222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t>{{localizacao}}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94944" y="2212848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2157984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/>
            <a:r>
              <a:t>{{bullet_executivo_1}}</a:t>
            </a:r>
          </a:p>
        </p:txBody>
      </p:sp>
      <p:sp>
        <p:nvSpPr>
          <p:cNvPr id="14" name="Text 11"/>
          <p:cNvSpPr/>
          <p:nvPr/>
        </p:nvSpPr>
        <p:spPr>
          <a:xfrm>
            <a:off x="694944" y="2779776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2617053"/>
            <a:ext cx="522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/>
            <a:r>
              <a:t>{{bullet_executivo_2}}</a:t>
            </a:r>
            <a:endParaRPr sz="1200" b="0" dirty="0">
              <a:solidFill>
                <a:srgbClr val="1A1A1A"/>
              </a:solidFill>
              <a:latin typeface="Apto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4944" y="3346704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3291840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/>
            <a:r>
              <a:t>{{bullet_executivo_3}}</a:t>
            </a:r>
          </a:p>
        </p:txBody>
      </p:sp>
      <p:sp>
        <p:nvSpPr>
          <p:cNvPr id="18" name="Text 15"/>
          <p:cNvSpPr/>
          <p:nvPr/>
        </p:nvSpPr>
        <p:spPr>
          <a:xfrm>
            <a:off x="694944" y="3913632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68680" y="3858768"/>
            <a:ext cx="5568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/>
            <a:r>
              <a:t>{{bullet_executivo_4}}</a:t>
            </a:r>
          </a:p>
        </p:txBody>
      </p:sp>
      <p:sp>
        <p:nvSpPr>
          <p:cNvPr id="20" name="Text 17"/>
          <p:cNvSpPr/>
          <p:nvPr/>
        </p:nvSpPr>
        <p:spPr>
          <a:xfrm>
            <a:off x="694944" y="448056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8680" y="4425696"/>
            <a:ext cx="5568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/>
            <a:r>
              <a:t>Faixa de investimento: {{faixa_investimento}}. Valor de referência: {{valor_referencia}}.</a:t>
            </a:r>
            <a:endParaRPr lang="pt-BR" sz="1200" b="0" dirty="0">
              <a:solidFill>
                <a:srgbClr val="1A1A1A"/>
              </a:solidFill>
              <a:latin typeface="Aptos"/>
            </a:endParaRPr>
          </a:p>
        </p:txBody>
      </p:sp>
      <p:pic>
        <p:nvPicPr>
          <p:cNvPr id="23" name="EG0013_Video_ÁreaRural_Canela_Limeira_27,29ha (1).mp4">
            <a:hlinkClick r:id="" action="ppaction://media"/>
            <a:extLst>
              <a:ext uri="{FF2B5EF4-FFF2-40B4-BE49-F238E27FC236}">
                <a16:creationId xmlns:a16="http://schemas.microsoft.com/office/drawing/2014/main" id="{7424CE68-1E4D-A8F2-F38A-170DB0523A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437376" y="758952"/>
            <a:ext cx="4885944" cy="2640747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73DE3FD6-419B-D364-6A7B-D862840340E4}"/>
              </a:ext>
            </a:extLst>
          </p:cNvPr>
          <p:cNvSpPr txBox="1"/>
          <p:nvPr/>
        </p:nvSpPr>
        <p:spPr>
          <a:xfrm>
            <a:off x="6785113" y="3913632"/>
            <a:ext cx="4711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Aperte na imagem!!!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02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Conheça o ativo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30352" y="694944"/>
            <a:ext cx="1188720" cy="0"/>
          </a:xfrm>
          <a:prstGeom prst="line">
            <a:avLst/>
          </a:prstGeom>
          <a:noFill/>
          <a:ln w="12700">
            <a:solidFill>
              <a:srgbClr val="1576A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tmp/redesign/ppt/media/image4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0698480" y="6309360"/>
            <a:ext cx="109728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347472"/>
            <a:ext cx="630936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/>
            <a:r>
              <a:t>{{resumo_conheca_ativo}}</a:t>
            </a:r>
          </a:p>
        </p:txBody>
      </p:sp>
      <p:pic>
        <p:nvPicPr>
          <p:cNvPr id="6" name="Image 1" descr="/mnt/data/FOTO 1 (1).jpeg"/>
          <p:cNvPicPr>
            <a:picLocks noChangeAspect="1"/>
          </p:cNvPicPr>
          <p:nvPr/>
        </p:nvPicPr>
        <p:blipFill>
          <a:blip r:embed="rId4"/>
          <a:srcRect t="31796" b="31796"/>
          <a:stretch/>
        </p:blipFill>
        <p:spPr>
          <a:xfrm>
            <a:off x="713232" y="914400"/>
            <a:ext cx="10195560" cy="1874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04672" y="3218688"/>
            <a:ext cx="91440" cy="91440"/>
          </a:xfrm>
          <a:prstGeom prst="ellipse">
            <a:avLst/>
          </a:prstGeom>
          <a:solidFill>
            <a:srgbClr val="C5912F"/>
          </a:solidFill>
          <a:ln w="12700">
            <a:solidFill>
              <a:srgbClr val="C591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1005840" y="31272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ptos"/>
              </a:rPr>
              <a:t>Essência natural</a:t>
            </a:r>
            <a:endParaRPr lang="en-US" sz="930" dirty="0"/>
          </a:p>
        </p:txBody>
      </p:sp>
      <p:sp>
        <p:nvSpPr>
          <p:cNvPr id="9" name="Text 5"/>
          <p:cNvSpPr/>
          <p:nvPr/>
        </p:nvSpPr>
        <p:spPr>
          <a:xfrm>
            <a:off x="1005840" y="3346704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t>{{essencia_natural}}</a:t>
            </a:r>
            <a:endParaRPr lang="en-US" sz="740" dirty="0"/>
          </a:p>
        </p:txBody>
      </p:sp>
      <p:sp>
        <p:nvSpPr>
          <p:cNvPr id="10" name="Shape 6"/>
          <p:cNvSpPr/>
          <p:nvPr/>
        </p:nvSpPr>
        <p:spPr>
          <a:xfrm>
            <a:off x="804672" y="4540725"/>
            <a:ext cx="1645920" cy="0"/>
          </a:xfrm>
          <a:prstGeom prst="line">
            <a:avLst/>
          </a:prstGeom>
          <a:noFill/>
          <a:ln w="12700">
            <a:solidFill>
              <a:srgbClr val="A7B7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3867912" y="3218688"/>
            <a:ext cx="91440" cy="91440"/>
          </a:xfrm>
          <a:prstGeom prst="ellipse">
            <a:avLst/>
          </a:prstGeom>
          <a:solidFill>
            <a:srgbClr val="C5912F"/>
          </a:solidFill>
          <a:ln w="12700">
            <a:solidFill>
              <a:srgbClr val="C591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4069080" y="31272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ptos"/>
              </a:rPr>
              <a:t>Potencial turístico</a:t>
            </a:r>
            <a:endParaRPr lang="en-US" sz="930" dirty="0"/>
          </a:p>
        </p:txBody>
      </p:sp>
      <p:sp>
        <p:nvSpPr>
          <p:cNvPr id="13" name="Text 9"/>
          <p:cNvSpPr/>
          <p:nvPr/>
        </p:nvSpPr>
        <p:spPr>
          <a:xfrm>
            <a:off x="4069080" y="3346703"/>
            <a:ext cx="2148840" cy="1348537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t>{{potencial_turistico_prudente}}</a:t>
            </a:r>
            <a:endParaRPr lang="en-US" sz="740" dirty="0"/>
          </a:p>
        </p:txBody>
      </p:sp>
      <p:sp>
        <p:nvSpPr>
          <p:cNvPr id="14" name="Shape 10"/>
          <p:cNvSpPr/>
          <p:nvPr/>
        </p:nvSpPr>
        <p:spPr>
          <a:xfrm>
            <a:off x="4023360" y="4540725"/>
            <a:ext cx="1645920" cy="0"/>
          </a:xfrm>
          <a:prstGeom prst="line">
            <a:avLst/>
          </a:prstGeom>
          <a:noFill/>
          <a:ln w="12700">
            <a:solidFill>
              <a:srgbClr val="A7B7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931152" y="3218688"/>
            <a:ext cx="91440" cy="91440"/>
          </a:xfrm>
          <a:prstGeom prst="ellipse">
            <a:avLst/>
          </a:prstGeom>
          <a:solidFill>
            <a:srgbClr val="C5912F"/>
          </a:solidFill>
          <a:ln w="12700">
            <a:solidFill>
              <a:srgbClr val="C591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7132320" y="31272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ptos"/>
              </a:rPr>
              <a:t>Base documental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>
            <a:off x="7132320" y="3346704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/>
            <a:r>
              <a:t>{{base_documental}}</a:t>
            </a:r>
          </a:p>
        </p:txBody>
      </p:sp>
      <p:sp>
        <p:nvSpPr>
          <p:cNvPr id="18" name="Shape 14"/>
          <p:cNvSpPr/>
          <p:nvPr/>
        </p:nvSpPr>
        <p:spPr>
          <a:xfrm>
            <a:off x="7022592" y="4540725"/>
            <a:ext cx="1645920" cy="0"/>
          </a:xfrm>
          <a:prstGeom prst="line">
            <a:avLst/>
          </a:prstGeom>
          <a:noFill/>
          <a:ln w="12700">
            <a:solidFill>
              <a:srgbClr val="A7B7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E3173B78-A3CD-BEC2-BEC8-B5EECC9F417F}"/>
              </a:ext>
            </a:extLst>
          </p:cNvPr>
          <p:cNvSpPr/>
          <p:nvPr/>
        </p:nvSpPr>
        <p:spPr>
          <a:xfrm>
            <a:off x="694943" y="5335325"/>
            <a:ext cx="10126781" cy="333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t>Para informações estratégicas detalhadas deste ativo ({{codigo_ativo}}), solicite a apresentação completa!</a:t>
            </a:r>
            <a:endParaRPr sz="1200" b="1" dirty="0">
              <a:solidFill>
                <a:srgbClr val="1A1A1A"/>
              </a:solidFill>
              <a:latin typeface="Aptos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AA1769C-C6A1-07E3-968D-3389E3EB8BD5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4000"/>
          </a:p>
        </p:txBody>
      </p:sp>
      <p:sp>
        <p:nvSpPr>
          <p:cNvPr id="3" name="Shape 1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>
            <a:solidFill>
              <a:srgbClr val="1F5F93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4" name="Text 2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F5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 GOVER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4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Márcio Castro Alves</a:t>
            </a:r>
            <a:endParaRPr lang="en-US" sz="4444" dirty="0"/>
          </a:p>
        </p:txBody>
      </p:sp>
      <p:sp>
        <p:nvSpPr>
          <p:cNvPr id="6" name="Text 4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33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 - Chief Legal Officer</a:t>
            </a:r>
            <a:endParaRPr lang="en-US" sz="2333" dirty="0"/>
          </a:p>
        </p:txBody>
      </p:sp>
      <p:sp>
        <p:nvSpPr>
          <p:cNvPr id="7" name="Text 5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44" b="1" dirty="0">
                <a:solidFill>
                  <a:srgbClr val="1F5F93"/>
                </a:solidFill>
              </a:rPr>
              <a:t>Contato rápido</a:t>
            </a:r>
            <a:endParaRPr lang="en-US" sz="2444" dirty="0"/>
          </a:p>
        </p:txBody>
      </p:sp>
      <p:sp>
        <p:nvSpPr>
          <p:cNvPr id="8" name="Shape 6">
            <a:hlinkClick r:id="rId3"/>
          </p:cNvPr>
          <p:cNvSpPr/>
          <p:nvPr/>
        </p:nvSpPr>
        <p:spPr>
          <a:xfrm>
            <a:off x="975360" y="4023360"/>
            <a:ext cx="5451944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78" b="1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WhatsApp</a:t>
            </a:r>
            <a:endParaRPr lang="en-US" sz="2778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3291840" y="4307840"/>
            <a:ext cx="276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6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(51) 98138-1742</a:t>
            </a:r>
            <a:endParaRPr lang="en-US" sz="2556" dirty="0"/>
          </a:p>
        </p:txBody>
      </p:sp>
      <p:sp>
        <p:nvSpPr>
          <p:cNvPr id="12" name="Shape 10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13" name="Text 11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44" b="1" dirty="0">
                <a:solidFill>
                  <a:srgbClr val="1F5F93"/>
                </a:solidFill>
              </a:rPr>
              <a:t>QR Code</a:t>
            </a:r>
            <a:endParaRPr lang="en-US" sz="2444" dirty="0"/>
          </a:p>
        </p:txBody>
      </p:sp>
      <p:pic>
        <p:nvPicPr>
          <p:cNvPr id="14" name="Image 0" descr="/mnt/data/contact_assets/marcio_whatsapp_qr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194560"/>
            <a:ext cx="2133600" cy="2133600"/>
          </a:xfrm>
          <a:prstGeom prst="rect">
            <a:avLst/>
          </a:prstGeom>
        </p:spPr>
      </p:pic>
      <p:sp>
        <p:nvSpPr>
          <p:cNvPr id="15" name="Text 12">
            <a:hlinkClick r:id="rId3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11" u="sng" dirty="0">
                <a:solidFill>
                  <a:srgbClr val="5B6B7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WhatsApp</a:t>
            </a:r>
            <a:endParaRPr lang="en-US" sz="2111" dirty="0"/>
          </a:p>
        </p:txBody>
      </p:sp>
    </p:spTree>
    <p:extLst>
      <p:ext uri="{BB962C8B-B14F-4D97-AF65-F5344CB8AC3E}">
        <p14:creationId xmlns:p14="http://schemas.microsoft.com/office/powerpoint/2010/main" val="3395664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4000"/>
          </a:p>
        </p:txBody>
      </p:sp>
      <p:sp>
        <p:nvSpPr>
          <p:cNvPr id="3" name="Shape 1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>
            <a:solidFill>
              <a:srgbClr val="1F5F93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4" name="Text 2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F5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 GOVER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4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Karina Kuhn</a:t>
            </a:r>
            <a:endParaRPr lang="en-US" sz="4444" dirty="0"/>
          </a:p>
        </p:txBody>
      </p:sp>
      <p:sp>
        <p:nvSpPr>
          <p:cNvPr id="6" name="Text 4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33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Bióloga e Especialista em Licenciamento Ambiental</a:t>
            </a:r>
            <a:endParaRPr lang="en-US" sz="2333" dirty="0"/>
          </a:p>
        </p:txBody>
      </p:sp>
      <p:sp>
        <p:nvSpPr>
          <p:cNvPr id="7" name="Text 5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44" b="1" dirty="0">
                <a:solidFill>
                  <a:srgbClr val="1F5F93"/>
                </a:solidFill>
              </a:rPr>
              <a:t>Contato rápido</a:t>
            </a:r>
            <a:endParaRPr lang="en-US" sz="2444" dirty="0"/>
          </a:p>
        </p:txBody>
      </p:sp>
      <p:sp>
        <p:nvSpPr>
          <p:cNvPr id="8" name="Shape 6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78" b="1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WhatsApp</a:t>
            </a:r>
            <a:endParaRPr lang="en-US" sz="2778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3291840" y="4307840"/>
            <a:ext cx="236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6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(51) 99832-2906</a:t>
            </a:r>
            <a:endParaRPr lang="en-US" sz="2556" dirty="0"/>
          </a:p>
        </p:txBody>
      </p:sp>
      <p:sp>
        <p:nvSpPr>
          <p:cNvPr id="12" name="Shape 10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13" name="Text 11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44" b="1" dirty="0">
                <a:solidFill>
                  <a:srgbClr val="1F5F93"/>
                </a:solidFill>
              </a:rPr>
              <a:t>QR Code</a:t>
            </a:r>
            <a:endParaRPr lang="en-US" sz="2444" dirty="0"/>
          </a:p>
        </p:txBody>
      </p:sp>
      <p:pic>
        <p:nvPicPr>
          <p:cNvPr id="14" name="Image 0" descr="/mnt/data/contact_assets/karina_whatsapp_qr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194560"/>
            <a:ext cx="2133600" cy="2133600"/>
          </a:xfrm>
          <a:prstGeom prst="rect">
            <a:avLst/>
          </a:prstGeom>
        </p:spPr>
      </p:pic>
      <p:sp>
        <p:nvSpPr>
          <p:cNvPr id="15" name="Text 12">
            <a:hlinkClick r:id="rId3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11" u="sng" dirty="0">
                <a:solidFill>
                  <a:srgbClr val="5B6B7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WhatsApp</a:t>
            </a:r>
            <a:endParaRPr lang="en-US" sz="2111" dirty="0"/>
          </a:p>
        </p:txBody>
      </p:sp>
      <p:sp>
        <p:nvSpPr>
          <p:cNvPr id="16" name="AutoShape 2" descr="Karina - PNG">
            <a:extLst>
              <a:ext uri="{FF2B5EF4-FFF2-40B4-BE49-F238E27FC236}">
                <a16:creationId xmlns:a16="http://schemas.microsoft.com/office/drawing/2014/main" id="{A1B09EB7-95DD-C7A4-1F4C-B4BE49CC74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57334" y="3090334"/>
            <a:ext cx="677333" cy="67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203200" tIns="101600" rIns="203200" bIns="101600" numCol="1" anchor="t" anchorCtr="0" compatLnSpc="1">
            <a:prstTxWarp prst="textNoShape">
              <a:avLst/>
            </a:prstTxWarp>
          </a:bodyPr>
          <a:lstStyle/>
          <a:p>
            <a:endParaRPr lang="pt-BR" sz="4000"/>
          </a:p>
        </p:txBody>
      </p:sp>
    </p:spTree>
    <p:extLst>
      <p:ext uri="{BB962C8B-B14F-4D97-AF65-F5344CB8AC3E}">
        <p14:creationId xmlns:p14="http://schemas.microsoft.com/office/powerpoint/2010/main" val="2362250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428</Words>
  <Application>Microsoft Macintosh PowerPoint</Application>
  <PresentationFormat>Widescreen</PresentationFormat>
  <Paragraphs>63</Paragraphs>
  <Slides>5</Slides>
  <Notes>5</Notes>
  <HiddenSlides>0</HiddenSlides>
  <MMClips>1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Estate Gover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EG0013 Canela - Revisada</dc:title>
  <dc:subject>EG0013 Canela</dc:subject>
  <dc:creator>OpenAI</dc:creator>
  <cp:lastModifiedBy>Karina Kuhn</cp:lastModifiedBy>
  <cp:revision>11</cp:revision>
  <dcterms:created xsi:type="dcterms:W3CDTF">2026-03-16T13:29:58Z</dcterms:created>
  <dcterms:modified xsi:type="dcterms:W3CDTF">2026-04-04T15:09:51Z</dcterms:modified>
</cp:coreProperties>
</file>