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88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2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8393D-1672-D343-A673-09A8574BE800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55D28-153F-D647-835E-C6B431B50A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3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G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6400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813817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9832290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0013_capa_work/r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0"/>
            <a:ext cx="7391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D3E5F"/>
          </a:solidFill>
          <a:ln w="12700">
            <a:solidFill>
              <a:srgbClr val="0C3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5138928"/>
            <a:ext cx="4800600" cy="1719072"/>
          </a:xfrm>
          <a:prstGeom prst="rect">
            <a:avLst/>
          </a:prstGeom>
          <a:solidFill>
            <a:srgbClr val="0A314D">
              <a:alpha val="82000"/>
            </a:srgbClr>
          </a:solidFill>
          <a:ln w="12700">
            <a:solidFill>
              <a:srgbClr val="0A31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mnt/data/eg0013_capa_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4005"/>
            <a:ext cx="1417320" cy="4440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5910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 ÁREAS URBANAS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58368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do ativo: EG-TESTE-003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57784" y="2926080"/>
            <a:ext cx="1143000" cy="0"/>
          </a:xfrm>
          <a:prstGeom prst="line">
            <a:avLst/>
          </a:prstGeom>
          <a:noFill/>
          <a:ln w="19050">
            <a:solidFill>
              <a:srgbClr val="C9A3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658368" y="318211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 Hamburgo/RS | Área urbana com potencial preliminar para produto residencial, sujeita à validação urbanística, técnica, jurídica e ambiental.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53492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aproximada: 15.000 m²
Faixa de investimento: referência inicial
Valor de referência: R$ 8.000.000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GOVER: EG-TESTE-003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Leitura executiva do ativo com foco comercial e potencial de implantação.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2103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3A63"/>
                </a:solidFill>
              </a:rPr>
              <a:t>Código: EG-TESTE-003
Tipo: Área urbana
Localização: Novo Hamburgo/RS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66928" y="23225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19" y="2331720"/>
            <a:ext cx="63629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Área urbana aproximada de 15.000 m², localizada em Novo Hamburgo/RS.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66928" y="279806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6362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 err="1">
                <a:solidFill>
                  <a:srgbClr val="22313F"/>
                </a:solidFill>
              </a:rPr>
              <a:t>Potencial preliminar para estruturação residencial, sujeito à validação urbanística, técnica, jurídica e ambiental.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66928" y="32735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31519" y="3282696"/>
            <a:ext cx="63629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Avanço condicionado à confirmação de zoneamento, índices urbanísticos, acessos e infraestrutura urbana.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66928" y="37490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636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Matrícula e base jurídica/documental pendentes de due diligence antes de tese fechada.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66928" y="422452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1520" y="4233672"/>
            <a:ext cx="615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Valor de referência: R$ 8.000.000.</a:t>
            </a:r>
            <a:endParaRPr lang="en-US" sz="1120" dirty="0"/>
          </a:p>
        </p:txBody>
      </p:sp>
      <p:pic>
        <p:nvPicPr>
          <p:cNvPr id="20" name="Picture 19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E5DA112-A02B-768F-EE20-29547984E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961" y="944999"/>
            <a:ext cx="3728332" cy="248400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41FEEBF-43B1-F3B5-E0C3-98E131B98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961" y="3694176"/>
            <a:ext cx="3728332" cy="248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Área urbana com potencial preliminar para produto residencial, dependente de validações urbanísticas, técnicas, jurídicas e ambientais.</a:t>
            </a:r>
            <a:endParaRPr lang="en-US" sz="900" dirty="0"/>
          </a:p>
        </p:txBody>
      </p:sp>
      <p:pic>
        <p:nvPicPr>
          <p:cNvPr id="5" name="Image 0" descr="/mnt/data/FOTO 1 (1).jpeg"/>
          <p:cNvPicPr>
            <a:picLocks noChangeAspect="1"/>
          </p:cNvPicPr>
          <p:nvPr/>
        </p:nvPicPr>
        <p:blipFill>
          <a:blip r:embed="rId3"/>
          <a:srcRect t="21291" b="21291"/>
          <a:stretch/>
        </p:blipFill>
        <p:spPr>
          <a:xfrm>
            <a:off x="1366345" y="822960"/>
            <a:ext cx="9133489" cy="2359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7840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Essência urbana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7840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Localização em Novo Hamburgo/RS, com leitura preliminar para estruturação imobiliária residencial.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6926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2628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8172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Potencial residencial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8172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5B6770"/>
                </a:solidFill>
              </a:rPr>
              <a:t>Tese preliminar de produto residencial, condicionada à DM / consulta urbanística e à validação dos parâmetros aplicáveis.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7258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22960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8504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Base de validação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8504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Zoneamento, índices, acessos, infraestrutura, matrícula e condicionantes ambientais devem ser confirmados antes de tese fechada.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7590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Picture 17" descr="_estate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Localização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907624" y="89611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Novo Hamburgo/RS, em contexto urbano a ser validado por leitura territorial e consulta urbanística municipal.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07624" y="165506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72216" y="1664208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</a:rPr>
              <a:t>Inserção municipal em Novo Hamburgo/RS.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07624" y="21305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72216" y="2139696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</a:rPr>
              <a:t>Analisar acessos e conexão com infraestrutura urbana existente.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07624" y="26060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216" y="2615184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</a:rPr>
              <a:t>Confirmar zoneamento e restrições aplicáveis via DM / consulta urbanística.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07624" y="308152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72216" y="3090672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</a:rPr>
              <a:t>Mapear entorno, usos compatíveis e condicionantes ambientais/técnicas.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12416" y="3886200"/>
            <a:ext cx="2681740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 err="1">
                <a:solidFill>
                  <a:srgbClr val="176B94"/>
                </a:solidFill>
              </a:rPr>
              <a:t>Região urbana – Novo Hamburgo/RS</a:t>
            </a:r>
            <a:endParaRPr lang="en-US" sz="820" dirty="0"/>
          </a:p>
        </p:txBody>
      </p:sp>
      <p:pic>
        <p:nvPicPr>
          <p:cNvPr id="17" name="Picture 16" descr="_estate_logo_foo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18" name="EG0013_Video_ÁreaRural_Canela_Limeira_27,29ha (1).mp4">
            <a:hlinkClick r:id="" action="ppaction://media"/>
            <a:extLst>
              <a:ext uri="{FF2B5EF4-FFF2-40B4-BE49-F238E27FC236}">
                <a16:creationId xmlns:a16="http://schemas.microsoft.com/office/drawing/2014/main" id="{4F3F0553-F950-497E-375E-63E79611E7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3079" y="1944034"/>
            <a:ext cx="4694661" cy="2640747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2A488380-99FA-7504-2C05-5B3747E7DF4B}"/>
              </a:ext>
            </a:extLst>
          </p:cNvPr>
          <p:cNvSpPr/>
          <p:nvPr/>
        </p:nvSpPr>
        <p:spPr>
          <a:xfrm>
            <a:off x="846420" y="156947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Referência de localização</a:t>
            </a:r>
            <a:endParaRPr lang="en-US" sz="1050" dirty="0"/>
          </a:p>
        </p:txBody>
      </p:sp>
      <p:pic>
        <p:nvPicPr>
          <p:cNvPr id="23" name="Gráfico 22" descr="Direção estrutura de tópicos">
            <a:extLst>
              <a:ext uri="{FF2B5EF4-FFF2-40B4-BE49-F238E27FC236}">
                <a16:creationId xmlns:a16="http://schemas.microsoft.com/office/drawing/2014/main" id="{FC9E0899-EBEC-E87B-DAEE-E3B767BB9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296" y="4204715"/>
            <a:ext cx="368808" cy="36880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B075C31-1606-15DD-5886-A87C273ED39D}"/>
              </a:ext>
            </a:extLst>
          </p:cNvPr>
          <p:cNvSpPr txBox="1"/>
          <p:nvPr/>
        </p:nvSpPr>
        <p:spPr>
          <a:xfrm>
            <a:off x="863079" y="5011531"/>
            <a:ext cx="3539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Clique na imagem e descubra o que te espera!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Dimensão do ativo e status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" y="105156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</a:rPr>
              <a:t>Área aproximada: 15.000 m².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179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527048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 dirty="0"/>
              <a:t>Composição documental: matrícula e base jurídica a confirmar em due diligence.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002536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2313F"/>
                </a:solidFill>
              </a:rPr>
              <a:t>Tese preliminar de produto residencial, sujeita à validação urbanística, técnica, jurídica e ambiental.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478024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</a:rPr>
              <a:t>Status urbanístico: [necessário DM / consulta urbanística] antes de qualquer afirmação de viabilidade.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96084" y="6432804"/>
            <a:ext cx="4478595" cy="411480"/>
          </a:xfrm>
          <a:prstGeom prst="rect">
            <a:avLst/>
          </a:prstGeom>
          <a:solidFill>
            <a:srgbClr val="113A63"/>
          </a:solidFill>
          <a:ln w="12700">
            <a:solidFill>
              <a:srgbClr val="11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349241" y="6498266"/>
            <a:ext cx="6744984" cy="28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Potencial preliminar para produto residencial, sujeito à validação</a:t>
            </a:r>
            <a:endParaRPr lang="en-US" sz="1100" dirty="0"/>
          </a:p>
        </p:txBody>
      </p:sp>
      <p:pic>
        <p:nvPicPr>
          <p:cNvPr id="15" name="Picture 14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79" y="6510723"/>
            <a:ext cx="1162693" cy="26809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12BE040-CB03-3D8F-9FCC-4746DCFF6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87" y="326232"/>
            <a:ext cx="4478594" cy="29838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5A6D24A-933E-48E7-5CF9-43778B3AF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87" y="3429000"/>
            <a:ext cx="4478593" cy="2983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Potencial construtivo e urbanístico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Leitura preliminar para orientar a due diligence técnica do ativo.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078992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11612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Zoneamento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12265" y="1078992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2112264" y="1133856"/>
            <a:ext cx="27199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5B6770"/>
                </a:solidFill>
              </a:rPr>
              <a:t>Necessário DM / consulta urbanística municipal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99616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6384" y="158191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Ocupação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112264" y="1499616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103270" y="154990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Produto residencial em tese preliminar, sem viabilidade definitiva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A5C7DD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6384" y="200253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Índices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103271" y="1920240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112263" y="1975104"/>
            <a:ext cx="27109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5B6770"/>
                </a:solidFill>
              </a:rPr>
              <a:t>A confirmar por legislação urbanística e análise técnica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40864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6384" y="242316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Acesso / recursos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112263" y="2340864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112262" y="2395728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Depende de validação de acessos, infraestrutura e serviços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761488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86384" y="284378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Configuração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112263" y="2761488"/>
            <a:ext cx="2710971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103270" y="2816352"/>
            <a:ext cx="27109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Área urbana com potencial preliminar de estruturação residencial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05966" y="4710045"/>
            <a:ext cx="5487095" cy="246006"/>
          </a:xfrm>
          <a:prstGeom prst="rect">
            <a:avLst/>
          </a:prstGeom>
          <a:solidFill>
            <a:srgbClr val="C58D22"/>
          </a:solidFill>
          <a:ln w="12700">
            <a:solidFill>
              <a:srgbClr val="C58D2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Text 24"/>
          <p:cNvSpPr/>
          <p:nvPr/>
        </p:nvSpPr>
        <p:spPr>
          <a:xfrm>
            <a:off x="5079118" y="4812791"/>
            <a:ext cx="5116934" cy="12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Potencial preliminar: residencial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005966" y="4962975"/>
            <a:ext cx="5487095" cy="246006"/>
          </a:xfrm>
          <a:prstGeom prst="rect">
            <a:avLst/>
          </a:prstGeom>
          <a:solidFill>
            <a:srgbClr val="D79F29"/>
          </a:solidFill>
          <a:ln w="12700">
            <a:solidFill>
              <a:srgbClr val="D79F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038278" y="5013322"/>
            <a:ext cx="5285363" cy="12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 err="1">
                <a:solidFill>
                  <a:srgbClr val="FFFFFF"/>
                </a:solidFill>
              </a:rPr>
              <a:t>Posicionamento preliminar sujeito à validação urbanística, técnica, jurídica e ambiental</a:t>
            </a:r>
            <a:endParaRPr lang="en-US" sz="780" dirty="0"/>
          </a:p>
        </p:txBody>
      </p:sp>
      <p:pic>
        <p:nvPicPr>
          <p:cNvPr id="30" name="Picture 29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1D21813-3B2B-385E-699C-1726F229E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965" y="1040202"/>
            <a:ext cx="5478103" cy="3669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Diferenciais do produto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79F29"/>
                </a:solidFill>
              </a:rPr>
              <a:t>15.000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10698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770"/>
                </a:solidFill>
              </a:rPr>
              <a:t>m² aprox.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73394" y="1527933"/>
            <a:ext cx="2880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313F"/>
                </a:solidFill>
              </a:rPr>
              <a:t>R$ 8 MI ref.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15583" y="854964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0176" y="864108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313F"/>
                </a:solidFill>
              </a:rPr>
              <a:t>Escala urbana compatível com análise preliminar de produto residencial.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15583" y="1330452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0176" y="1339596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313F"/>
                </a:solidFill>
              </a:rPr>
              <a:t>Localização em Novo Hamburgo/RS, com leitura comercial a validar.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15583" y="1805940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0176" y="1815084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313F"/>
                </a:solidFill>
              </a:rPr>
              <a:t>Tese dependente de zoneamento, índices e infraestrutura.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15583" y="2281428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77982" y="2199132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00" dirty="0" err="1"/>
              <a:t>Ativo com valor de referência definido para avaliação inicial.</a:t>
            </a:r>
          </a:p>
        </p:txBody>
      </p:sp>
      <p:sp>
        <p:nvSpPr>
          <p:cNvPr id="16" name="Text 14"/>
          <p:cNvSpPr/>
          <p:nvPr/>
        </p:nvSpPr>
        <p:spPr>
          <a:xfrm>
            <a:off x="5815583" y="2756916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0176" y="2766060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313F"/>
                </a:solidFill>
              </a:rPr>
              <a:t>Due diligence técnica, jurídica e ambiental necessária antes de posicionamento fechado.</a:t>
            </a:r>
            <a:endParaRPr lang="en-US" sz="1000" dirty="0"/>
          </a:p>
        </p:txBody>
      </p:sp>
      <p:pic>
        <p:nvPicPr>
          <p:cNvPr id="21" name="Picture 20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4946AA8-246D-647E-6BAC-CC51CF1FB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304" y="3054096"/>
            <a:ext cx="9409373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do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Indicadores visuais para leitura comercial rápida do ativo.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Área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aproximada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do ativo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325880"/>
            <a:ext cx="3703320" cy="436208"/>
          </a:xfrm>
          <a:prstGeom prst="rect">
            <a:avLst/>
          </a:prstGeom>
          <a:solidFill>
            <a:srgbClr val="113A63"/>
          </a:solidFill>
          <a:ln w="12700">
            <a:solidFill>
              <a:srgbClr val="11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96667" y="1461073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15.000 m²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Valor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referência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19" y="1874520"/>
            <a:ext cx="2815467" cy="365760"/>
          </a:xfrm>
          <a:prstGeom prst="rect">
            <a:avLst/>
          </a:prstGeom>
          <a:solidFill>
            <a:srgbClr val="D79F29"/>
          </a:solidFill>
          <a:ln w="12700">
            <a:solidFill>
              <a:srgbClr val="D79F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77640" y="196325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R$ 8 MI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19" y="240595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19" y="2350549"/>
            <a:ext cx="2384224" cy="293690"/>
          </a:xfrm>
          <a:prstGeom prst="rect">
            <a:avLst/>
          </a:prstGeom>
          <a:solidFill>
            <a:srgbClr val="B78A34"/>
          </a:solidFill>
          <a:ln w="12700">
            <a:solidFill>
              <a:srgbClr val="B78A3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3793531" y="2455116"/>
            <a:ext cx="276778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DM / consulta</a:t>
            </a:r>
            <a:endParaRPr lang="en-US" sz="800" dirty="0"/>
          </a:p>
        </p:txBody>
      </p:sp>
      <p:pic>
        <p:nvPicPr>
          <p:cNvPr id="14" name="Image 0" descr="/mnt/data/FPTP 2 (1).jpeg"/>
          <p:cNvPicPr>
            <a:picLocks noChangeAspect="1"/>
          </p:cNvPicPr>
          <p:nvPr/>
        </p:nvPicPr>
        <p:blipFill>
          <a:blip r:embed="rId3"/>
          <a:srcRect l="3766" r="3766"/>
          <a:stretch/>
        </p:blipFill>
        <p:spPr>
          <a:xfrm>
            <a:off x="5655564" y="1316735"/>
            <a:ext cx="5774436" cy="35126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09368" y="5344668"/>
            <a:ext cx="997974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</a:rPr>
              <a:t>* Área e valor de referência informados para leitura preliminar, sujeitos à validação técnica, jurídica, ambiental e urbanística.</a:t>
            </a:r>
            <a:endParaRPr lang="en-US" sz="1600" dirty="0"/>
          </a:p>
        </p:txBody>
      </p:sp>
      <p:pic>
        <p:nvPicPr>
          <p:cNvPr id="16" name="Picture 15" descr="_estate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517" y="265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Condições de negócio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14517" y="576760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" name="Text 2"/>
          <p:cNvSpPr/>
          <p:nvPr/>
        </p:nvSpPr>
        <p:spPr>
          <a:xfrm>
            <a:off x="631232" y="1351849"/>
            <a:ext cx="263504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Valor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referência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7754" y="2030507"/>
            <a:ext cx="2635045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9F29"/>
                </a:solidFill>
              </a:rPr>
              <a:t>R$ 8.000.000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2421" y="2338011"/>
            <a:ext cx="2116393" cy="102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Referência inicial para avaliação comercial do ativo urbano.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3117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8" name="Text 6"/>
          <p:cNvSpPr/>
          <p:nvPr/>
        </p:nvSpPr>
        <p:spPr>
          <a:xfrm>
            <a:off x="3870469" y="1339837"/>
            <a:ext cx="303423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Estrutura a definir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88542" y="1918709"/>
            <a:ext cx="2330246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Negociação e
condições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7524" y="2525412"/>
            <a:ext cx="2627180" cy="68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Composição comercial sujeita à validação jurídica e econômica.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3194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12" name="Text 10"/>
          <p:cNvSpPr/>
          <p:nvPr/>
        </p:nvSpPr>
        <p:spPr>
          <a:xfrm>
            <a:off x="7162309" y="1244080"/>
            <a:ext cx="252246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Base da operação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98775" y="1969053"/>
            <a:ext cx="2104104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Dados-base
do ativo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853" y="2563172"/>
            <a:ext cx="1995948" cy="68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</a:rPr>
              <a:t>Due diligence necessária para confirmar matrícula, parâmetros urbanísticos, infraestrutura e condições finais.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38951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7" name="Text 14"/>
          <p:cNvSpPr/>
          <p:nvPr/>
        </p:nvSpPr>
        <p:spPr>
          <a:xfrm>
            <a:off x="843117" y="5907712"/>
            <a:ext cx="6609736" cy="8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Estrutura comercial sujeita à validação documental, técnica, jurídica, ambiental e urbanística.</a:t>
            </a:r>
            <a:endParaRPr lang="en-US" sz="1200" dirty="0"/>
          </a:p>
        </p:txBody>
      </p:sp>
      <p:pic>
        <p:nvPicPr>
          <p:cNvPr id="18" name="Picture 17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997" y="6410632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Márcio Castro Alves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 - Chief Legal Officer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39" y="4307840"/>
            <a:ext cx="26271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98138-1742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marcio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https://api.whatsapp.com/send?phone=5551981381742</a:t>
            </a:r>
            <a:endParaRPr lang="pt-BR" dirty="0"/>
          </a:p>
          <a:p>
            <a:pPr algn="ctr"/>
            <a:endParaRPr lang="en-US" sz="21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Karina Kuhn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Bióloga e Especialista em Licenciamento Ambiental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99832-2906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karina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</a:t>
            </a:r>
            <a:r>
              <a:rPr lang="pt-BR">
                <a:hlinkClick r:id="rId3"/>
              </a:rPr>
              <a:t>=5551998322906</a:t>
            </a:r>
            <a:r>
              <a:rPr lang="pt-BR"/>
              <a:t> </a:t>
            </a:r>
            <a:endParaRPr lang="en-US" sz="2111" dirty="0"/>
          </a:p>
        </p:txBody>
      </p:sp>
      <p:sp>
        <p:nvSpPr>
          <p:cNvPr id="16" name="AutoShape 2" descr="Karina - PNG">
            <a:extLst>
              <a:ext uri="{FF2B5EF4-FFF2-40B4-BE49-F238E27FC236}">
                <a16:creationId xmlns:a16="http://schemas.microsoft.com/office/drawing/2014/main" id="{A1B09EB7-95DD-C7A4-1F4C-B4BE49CC7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334" y="3090334"/>
            <a:ext cx="677333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03200" tIns="101600" rIns="203200" bIns="101600" numCol="1" anchor="t" anchorCtr="0" compatLnSpc="1">
            <a:prstTxWarp prst="textNoShape">
              <a:avLst/>
            </a:prstTxWarp>
          </a:bodyPr>
          <a:lstStyle/>
          <a:p>
            <a:endParaRPr 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812</Words>
  <Application>Microsoft Macintosh PowerPoint</Application>
  <PresentationFormat>Widescreen</PresentationFormat>
  <Paragraphs>132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Estate Gover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EG0013 Canela Estratégica</dc:title>
  <dc:subject>EG0013 Canela - apresentação estratégica</dc:subject>
  <dc:creator>OpenAI</dc:creator>
  <cp:lastModifiedBy>Karina Kuhn</cp:lastModifiedBy>
  <cp:revision>9</cp:revision>
  <dcterms:created xsi:type="dcterms:W3CDTF">2026-03-17T09:50:43Z</dcterms:created>
  <dcterms:modified xsi:type="dcterms:W3CDTF">2026-05-26T19:40:27Z</dcterms:modified>
</cp:coreProperties>
</file>