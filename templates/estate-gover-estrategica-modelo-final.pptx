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9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7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288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224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78393D-1672-D343-A673-09A8574BE800}" type="datetimeFigureOut">
              <a:rPr lang="pt-BR" smtClean="0"/>
              <a:t>26/05/2026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E55D28-153F-D647-835E-C6B431B50AC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5336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WhatsApp link fornecido pelo PDF do digicard do usuário.
- QR code gerado a partir do link de WhatsApp.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WhatsApp link fornecido pelo PDF do digicard do usuário.
- QR code gerado a partir do link de WhatsApp.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G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24160" y="64008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3.png"/><Relationship Id="rId6" Type="http://schemas.openxmlformats.org/officeDocument/2006/relationships/image" Target="../media/image7.png"/><Relationship Id="rId7" Type="http://schemas.openxmlformats.org/officeDocument/2006/relationships/image" Target="../media/image8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api.whatsapp.com/send?phone=5551981381742" TargetMode="External"/><Relationship Id="rId4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api.whatsapp.com/send?phone=5551998322906" TargetMode="Externa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G_SLOT_ESTRATEGICA_CAPA_FUNDO" descr="/mnt/data/eg0013_capa_work/right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0"/>
            <a:ext cx="73910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800600" cy="6858000"/>
          </a:xfrm>
          <a:prstGeom prst="rect">
            <a:avLst/>
          </a:prstGeom>
          <a:solidFill>
            <a:srgbClr val="0D3E5F"/>
          </a:solidFill>
          <a:ln w="12700">
            <a:solidFill>
              <a:srgbClr val="0C3A5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1"/>
          <p:cNvSpPr/>
          <p:nvPr/>
        </p:nvSpPr>
        <p:spPr>
          <a:xfrm>
            <a:off x="0" y="5138928"/>
            <a:ext cx="4800600" cy="1719072"/>
          </a:xfrm>
          <a:prstGeom prst="rect">
            <a:avLst/>
          </a:prstGeom>
          <a:solidFill>
            <a:srgbClr val="0A314D">
              <a:alpha val="82000"/>
            </a:srgbClr>
          </a:solidFill>
          <a:ln w="12700">
            <a:solidFill>
              <a:srgbClr val="0A31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5" name="EG_FIXED_LOGO_CAPA" descr="/mnt/data/eg0013_capa_work/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94005"/>
            <a:ext cx="1417320" cy="44409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8368" y="159105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ESTATE GOVER {{tipo_ativo}}</a:t>
            </a:r>
            <a:endParaRPr lang="en-US" sz="2000" dirty="0"/>
          </a:p>
        </p:txBody>
      </p:sp>
      <p:sp>
        <p:nvSpPr>
          <p:cNvPr id="7" name="Text 3"/>
          <p:cNvSpPr/>
          <p:nvPr/>
        </p:nvSpPr>
        <p:spPr>
          <a:xfrm>
            <a:off x="658368" y="263347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do ativo: {{codigo_ativo}}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557784" y="2926080"/>
            <a:ext cx="1143000" cy="0"/>
          </a:xfrm>
          <a:prstGeom prst="line">
            <a:avLst/>
          </a:prstGeom>
          <a:noFill/>
          <a:ln w="19050">
            <a:solidFill>
              <a:srgbClr val="C9A34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5"/>
          <p:cNvSpPr/>
          <p:nvPr/>
        </p:nvSpPr>
        <p:spPr>
          <a:xfrm>
            <a:off x="658368" y="3182112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{{localizacao}} | {{descricao_capa}}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58368" y="5349240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Área aproximada: {{area_aproximada}} | Valor de referência: {{valor_referencia}}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3A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ESTATE GOVER: {{codigo_ativo}}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66928"/>
            <a:ext cx="1143000" cy="0"/>
          </a:xfrm>
          <a:prstGeom prst="line">
            <a:avLst/>
          </a:prstGeom>
          <a:noFill/>
          <a:ln w="12700">
            <a:solidFill>
              <a:srgbClr val="C9D3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2313F"/>
                </a:solidFill>
              </a:rPr>
              <a:t>{{resumo_executivo}}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58368" y="1207008"/>
            <a:ext cx="21031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120" b="1" dirty="0">
                <a:solidFill>
                  <a:srgbClr val="113A63"/>
                </a:solidFill>
              </a:rPr>
              <a:t>Código: {{codigo_ativo}} | Tipo: {{tipo_ativo}} | Localização: {{localizacao}}</a:t>
            </a:r>
            <a:endParaRPr lang="en-US" sz="1120" dirty="0"/>
          </a:p>
          <a:p>
            <a:pPr marL="0" indent="0">
              <a:buNone/>
            </a:pPr>
            <a:endParaRPr lang="en-US" sz="1120" dirty="0"/>
          </a:p>
          <a:p>
            <a:pPr marL="0" indent="0">
              <a:buNone/>
            </a:pPr>
            <a:endParaRPr lang="en-US" sz="1120" dirty="0"/>
          </a:p>
        </p:txBody>
      </p:sp>
      <p:sp>
        <p:nvSpPr>
          <p:cNvPr id="6" name="Text 4"/>
          <p:cNvSpPr/>
          <p:nvPr/>
        </p:nvSpPr>
        <p:spPr>
          <a:xfrm>
            <a:off x="566928" y="2322576"/>
            <a:ext cx="137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C58D22"/>
                </a:solidFill>
              </a:rPr>
              <a:t>•</a:t>
            </a:r>
            <a:endParaRPr lang="en-US" sz="1320" dirty="0"/>
          </a:p>
        </p:txBody>
      </p:sp>
      <p:sp>
        <p:nvSpPr>
          <p:cNvPr id="7" name="Text 5"/>
          <p:cNvSpPr/>
          <p:nvPr/>
        </p:nvSpPr>
        <p:spPr>
          <a:xfrm>
            <a:off x="731519" y="2331720"/>
            <a:ext cx="63629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20" dirty="0">
                <a:solidFill>
                  <a:srgbClr val="22313F"/>
                </a:solidFill>
              </a:rPr>
              <a:t>{{resumo_executivo}}</a:t>
            </a:r>
            <a:endParaRPr lang="en-US" sz="1120" dirty="0"/>
          </a:p>
        </p:txBody>
      </p:sp>
      <p:sp>
        <p:nvSpPr>
          <p:cNvPr id="8" name="Text 6"/>
          <p:cNvSpPr/>
          <p:nvPr/>
        </p:nvSpPr>
        <p:spPr>
          <a:xfrm>
            <a:off x="566928" y="2798064"/>
            <a:ext cx="137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C58D22"/>
                </a:solidFill>
              </a:rPr>
              <a:t/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731520" y="2807208"/>
            <a:ext cx="636296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20" dirty="0" err="1">
                <a:solidFill>
                  <a:srgbClr val="22313F"/>
                </a:solidFill>
              </a:rPr>
              <a:t/>
            </a:r>
            <a:endParaRPr lang="en-US" sz="1120" dirty="0"/>
          </a:p>
        </p:txBody>
      </p:sp>
      <p:sp>
        <p:nvSpPr>
          <p:cNvPr id="10" name="Text 8"/>
          <p:cNvSpPr/>
          <p:nvPr/>
        </p:nvSpPr>
        <p:spPr>
          <a:xfrm>
            <a:off x="566928" y="3273552"/>
            <a:ext cx="137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C58D22"/>
                </a:solidFill>
              </a:rPr>
              <a:t/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731519" y="3282696"/>
            <a:ext cx="636296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20" dirty="0">
                <a:solidFill>
                  <a:srgbClr val="22313F"/>
                </a:solidFill>
              </a:rPr>
              <a:t/>
            </a:r>
            <a:endParaRPr lang="en-US" sz="1120" dirty="0"/>
          </a:p>
        </p:txBody>
      </p:sp>
      <p:sp>
        <p:nvSpPr>
          <p:cNvPr id="12" name="Text 10"/>
          <p:cNvSpPr/>
          <p:nvPr/>
        </p:nvSpPr>
        <p:spPr>
          <a:xfrm>
            <a:off x="566928" y="3749040"/>
            <a:ext cx="137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C58D22"/>
                </a:solidFill>
              </a:rPr>
              <a:t/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731520" y="3758184"/>
            <a:ext cx="636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20" dirty="0">
                <a:solidFill>
                  <a:srgbClr val="22313F"/>
                </a:solidFill>
              </a:rPr>
              <a:t/>
            </a:r>
            <a:endParaRPr lang="en-US" sz="1120" dirty="0"/>
          </a:p>
        </p:txBody>
      </p:sp>
      <p:sp>
        <p:nvSpPr>
          <p:cNvPr id="14" name="Text 12"/>
          <p:cNvSpPr/>
          <p:nvPr/>
        </p:nvSpPr>
        <p:spPr>
          <a:xfrm>
            <a:off x="566928" y="4224528"/>
            <a:ext cx="137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C58D22"/>
                </a:solidFill>
              </a:rPr>
              <a:t/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731520" y="4233672"/>
            <a:ext cx="6152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20" dirty="0">
                <a:solidFill>
                  <a:srgbClr val="22313F"/>
                </a:solidFill>
              </a:rPr>
              <a:t/>
            </a:r>
            <a:endParaRPr lang="en-US" sz="1120" dirty="0"/>
          </a:p>
        </p:txBody>
      </p:sp>
      <p:pic>
        <p:nvPicPr>
          <p:cNvPr id="20" name="EG_FIXED_LOGO_RODAPE_S2" descr="_estate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680" y="6400800"/>
            <a:ext cx="1005840" cy="237744"/>
          </a:xfrm>
          <a:prstGeom prst="rect">
            <a:avLst/>
          </a:prstGeom>
        </p:spPr>
      </p:pic>
      <p:pic>
        <p:nvPicPr>
          <p:cNvPr id="21" name="EG_SLOT_ESTRATEGICA_RESUMO_IMAGEM_1">
            <a:extLst>
              <a:ext uri="{FF2B5EF4-FFF2-40B4-BE49-F238E27FC236}">
                <a16:creationId xmlns:a16="http://schemas.microsoft.com/office/drawing/2014/main" id="{CE5DA112-A02B-768F-EE20-29547984EA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961" y="944999"/>
            <a:ext cx="3728332" cy="2484001"/>
          </a:xfrm>
          <a:prstGeom prst="rect">
            <a:avLst/>
          </a:prstGeom>
        </p:spPr>
      </p:pic>
      <p:pic>
        <p:nvPicPr>
          <p:cNvPr id="22" name="EG_SLOT_ESTRATEGICA_RESUMO_IMAGEM_2">
            <a:extLst>
              <a:ext uri="{FF2B5EF4-FFF2-40B4-BE49-F238E27FC236}">
                <a16:creationId xmlns:a16="http://schemas.microsoft.com/office/drawing/2014/main" id="{E41FEEBF-43B1-F3B5-E0C3-98E131B98E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961" y="3694176"/>
            <a:ext cx="3728332" cy="248400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3A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Conheça o ativo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66928"/>
            <a:ext cx="1143000" cy="0"/>
          </a:xfrm>
          <a:prstGeom prst="line">
            <a:avLst/>
          </a:prstGeom>
          <a:noFill/>
          <a:ln w="12700">
            <a:solidFill>
              <a:srgbClr val="C9D3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3931920" y="201168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0"/>
                </a:solidFill>
              </a:rPr>
              <a:t>{{conheca_ativo}}</a:t>
            </a:r>
            <a:endParaRPr lang="en-US" sz="900" dirty="0"/>
          </a:p>
        </p:txBody>
      </p:sp>
      <p:pic>
        <p:nvPicPr>
          <p:cNvPr id="5" name="EG_SLOT_ESTRATEGICA_CONHECA_IMAGEM" descr="/mnt/data/FOTO 1 (1).jpeg"/>
          <p:cNvPicPr>
            <a:picLocks noChangeAspect="1"/>
          </p:cNvPicPr>
          <p:nvPr/>
        </p:nvPicPr>
        <p:blipFill>
          <a:blip r:embed="rId3"/>
          <a:srcRect t="21291" b="21291"/>
          <a:stretch/>
        </p:blipFill>
        <p:spPr>
          <a:xfrm>
            <a:off x="1366345" y="822960"/>
            <a:ext cx="9133489" cy="23591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3401568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58D22"/>
                </a:solidFill>
              </a:rPr>
              <a:t>•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78408" y="340156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313F"/>
                </a:solidFill>
              </a:rPr>
              <a:t>Síntese do ativo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978408" y="367588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770"/>
                </a:solidFill>
              </a:rPr>
              <a:t>{{conheca_ativo}}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969264" y="4462272"/>
            <a:ext cx="1645920" cy="0"/>
          </a:xfrm>
          <a:prstGeom prst="line">
            <a:avLst/>
          </a:prstGeom>
          <a:noFill/>
          <a:ln w="12700">
            <a:solidFill>
              <a:srgbClr val="C9D3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4526280" y="3401568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58D22"/>
                </a:solidFill>
              </a:rPr>
              <a:t>•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681728" y="340156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313F"/>
                </a:solidFill>
              </a:rPr>
              <a:t>Potencial preliminar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681728" y="367588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5B6770"/>
                </a:solidFill>
              </a:rPr>
              <a:t>{{potencial_urbanistico}}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672584" y="4462272"/>
            <a:ext cx="1645920" cy="0"/>
          </a:xfrm>
          <a:prstGeom prst="line">
            <a:avLst/>
          </a:prstGeom>
          <a:noFill/>
          <a:ln w="12700">
            <a:solidFill>
              <a:srgbClr val="C9D3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8229600" y="3401568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58D22"/>
                </a:solidFill>
              </a:rPr>
              <a:t>•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385048" y="340156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313F"/>
                </a:solidFill>
              </a:rPr>
              <a:t>Base de validação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385048" y="367588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770"/>
                </a:solidFill>
              </a:rPr>
              <a:t>{{observacoes_urbanisticas}}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375904" y="4462272"/>
            <a:ext cx="1645920" cy="0"/>
          </a:xfrm>
          <a:prstGeom prst="line">
            <a:avLst/>
          </a:prstGeom>
          <a:noFill/>
          <a:ln w="12700">
            <a:solidFill>
              <a:srgbClr val="C9D3D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EG_FIXED_LOGO_RODAPE_S3" descr="_estate_logo_foo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74680" y="6400800"/>
            <a:ext cx="1005840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3A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Localização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66928"/>
            <a:ext cx="1143000" cy="0"/>
          </a:xfrm>
          <a:prstGeom prst="line">
            <a:avLst/>
          </a:prstGeom>
          <a:noFill/>
          <a:ln w="12700">
            <a:solidFill>
              <a:srgbClr val="C9D3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2"/>
          <p:cNvSpPr/>
          <p:nvPr/>
        </p:nvSpPr>
        <p:spPr>
          <a:xfrm>
            <a:off x="5907624" y="896112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</a:rPr>
              <a:t>{{localizacao_texto}}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907624" y="1655064"/>
            <a:ext cx="137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58D22"/>
                </a:solidFill>
              </a:rPr>
              <a:t>•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072216" y="1664208"/>
            <a:ext cx="5504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2313F"/>
                </a:solidFill>
              </a:rPr>
              <a:t>{{localizacao_texto}}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907624" y="2130552"/>
            <a:ext cx="137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58D22"/>
                </a:solidFill>
              </a:rPr>
              <a:t>•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072216" y="2139696"/>
            <a:ext cx="5504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2313F"/>
                </a:solidFill>
              </a:rPr>
              <a:t>Analisar acessos e conexão com infraestrutura urbana existente.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907624" y="2606040"/>
            <a:ext cx="137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58D22"/>
                </a:solidFill>
              </a:rPr>
              <a:t>•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072216" y="2615184"/>
            <a:ext cx="5504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2313F"/>
                </a:solidFill>
              </a:rPr>
              <a:t>Confirmar zoneamento e restrições aplicáveis via DM / consulta urbanística.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907624" y="3081528"/>
            <a:ext cx="137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58D22"/>
                </a:solidFill>
              </a:rPr>
              <a:t>•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072216" y="3090672"/>
            <a:ext cx="5504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2313F"/>
                </a:solidFill>
              </a:rPr>
              <a:t>Mapear entorno, usos compatíveis e condicionantes ambientais/técnicas.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212416" y="3886200"/>
            <a:ext cx="2681740" cy="502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 err="1">
                <a:solidFill>
                  <a:srgbClr val="176B94"/>
                </a:solidFill>
              </a:rPr>
              <a:t>{{localizacao}}</a:t>
            </a:r>
            <a:endParaRPr lang="en-US" sz="820" dirty="0"/>
          </a:p>
        </p:txBody>
      </p:sp>
      <p:pic>
        <p:nvPicPr>
          <p:cNvPr id="17" name="EG_FIXED_LOGO_RODAPE_S4" descr="_estate_logo_foo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74680" y="6400800"/>
            <a:ext cx="1005840" cy="237744"/>
          </a:xfrm>
          <a:prstGeom prst="rect">
            <a:avLst/>
          </a:prstGeom>
        </p:spPr>
      </p:pic>
      <p:pic>
        <p:nvPicPr>
          <p:cNvPr id="18" name="EG_SLOT_ESTRATEGICA_LOCALIZACAO_VIDEO">
            <a:hlinkClick r:id="" action="ppaction://media"/>
            <a:extLst>
              <a:ext uri="{FF2B5EF4-FFF2-40B4-BE49-F238E27FC236}">
                <a16:creationId xmlns:a16="http://schemas.microsoft.com/office/drawing/2014/main" id="{4F3F0553-F950-497E-375E-63E79611E73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63079" y="1944034"/>
            <a:ext cx="4694661" cy="2640747"/>
          </a:xfrm>
          <a:prstGeom prst="rect">
            <a:avLst/>
          </a:prstGeom>
        </p:spPr>
      </p:pic>
      <p:sp>
        <p:nvSpPr>
          <p:cNvPr id="19" name="Text 2">
            <a:extLst>
              <a:ext uri="{FF2B5EF4-FFF2-40B4-BE49-F238E27FC236}">
                <a16:creationId xmlns:a16="http://schemas.microsoft.com/office/drawing/2014/main" id="{2A488380-99FA-7504-2C05-5B3747E7DF4B}"/>
              </a:ext>
            </a:extLst>
          </p:cNvPr>
          <p:cNvSpPr/>
          <p:nvPr/>
        </p:nvSpPr>
        <p:spPr>
          <a:xfrm>
            <a:off x="846420" y="156947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</a:rPr>
              <a:t>Referência de localização</a:t>
            </a:r>
            <a:endParaRPr lang="en-US" sz="1050" dirty="0"/>
          </a:p>
        </p:txBody>
      </p:sp>
      <p:pic>
        <p:nvPicPr>
          <p:cNvPr id="23" name="EG_SLOT_ESTRATEGICA_LOCALIZACAO_QR_OU_LINK" descr="Direção estrutura de tópicos">
            <a:extLst>
              <a:ext uri="{FF2B5EF4-FFF2-40B4-BE49-F238E27FC236}">
                <a16:creationId xmlns:a16="http://schemas.microsoft.com/office/drawing/2014/main" id="{FC9E0899-EBEC-E87B-DAEE-E3B767BB97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4296" y="4204715"/>
            <a:ext cx="368808" cy="368808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7B075C31-1606-15DD-5886-A87C273ED39D}"/>
              </a:ext>
            </a:extLst>
          </p:cNvPr>
          <p:cNvSpPr txBox="1"/>
          <p:nvPr/>
        </p:nvSpPr>
        <p:spPr>
          <a:xfrm>
            <a:off x="863079" y="5011531"/>
            <a:ext cx="35392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Clique na imagem e descubra o que te espera!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6902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3A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Dimensão do ativo e status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66928"/>
            <a:ext cx="1143000" cy="0"/>
          </a:xfrm>
          <a:prstGeom prst="line">
            <a:avLst/>
          </a:prstGeom>
          <a:noFill/>
          <a:ln w="12700">
            <a:solidFill>
              <a:srgbClr val="C9D3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685800" y="1042416"/>
            <a:ext cx="137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58D22"/>
                </a:solidFill>
              </a:rPr>
              <a:t>•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50392" y="1051560"/>
            <a:ext cx="4498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313F"/>
                </a:solidFill>
              </a:rPr>
              <a:t>Área aproximada: {{area_aproximada}}.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1517904"/>
            <a:ext cx="137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58D22"/>
                </a:solidFill>
              </a:rPr>
              <a:t>•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50392" y="1527048"/>
            <a:ext cx="5107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100" dirty="0"/>
              <a:t>{{dimensao_status}}</a:t>
            </a:r>
          </a:p>
        </p:txBody>
      </p:sp>
      <p:sp>
        <p:nvSpPr>
          <p:cNvPr id="8" name="Text 6"/>
          <p:cNvSpPr/>
          <p:nvPr/>
        </p:nvSpPr>
        <p:spPr>
          <a:xfrm>
            <a:off x="685800" y="1993392"/>
            <a:ext cx="137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58D22"/>
                </a:solidFill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50392" y="2002536"/>
            <a:ext cx="5107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 err="1">
                <a:solidFill>
                  <a:srgbClr val="22313F"/>
                </a:solidFill>
              </a:rPr>
              <a:t>{{potencial_urbanistico}}</a:t>
            </a:r>
          </a:p>
        </p:txBody>
      </p:sp>
      <p:sp>
        <p:nvSpPr>
          <p:cNvPr id="10" name="Text 8"/>
          <p:cNvSpPr/>
          <p:nvPr/>
        </p:nvSpPr>
        <p:spPr>
          <a:xfrm>
            <a:off x="685800" y="2468880"/>
            <a:ext cx="137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58D22"/>
                </a:solidFill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50392" y="2478024"/>
            <a:ext cx="5107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313F"/>
                </a:solidFill>
              </a:rPr>
              <a:t>{{observacoes_urbanisticas}}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96084" y="6432804"/>
            <a:ext cx="4478595" cy="411480"/>
          </a:xfrm>
          <a:prstGeom prst="rect">
            <a:avLst/>
          </a:prstGeom>
          <a:solidFill>
            <a:srgbClr val="113A63"/>
          </a:solidFill>
          <a:ln w="12700">
            <a:solidFill>
              <a:srgbClr val="113A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5349241" y="6498266"/>
            <a:ext cx="6744984" cy="2805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{{dimensao_status}}</a:t>
            </a:r>
            <a:endParaRPr lang="en-US" sz="1100" dirty="0"/>
          </a:p>
        </p:txBody>
      </p:sp>
      <p:pic>
        <p:nvPicPr>
          <p:cNvPr id="15" name="EG_FIXED_LOGO_RODAPE_S5" descr="_estate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679" y="6510723"/>
            <a:ext cx="1162693" cy="268097"/>
          </a:xfrm>
          <a:prstGeom prst="rect">
            <a:avLst/>
          </a:prstGeom>
        </p:spPr>
      </p:pic>
      <p:pic>
        <p:nvPicPr>
          <p:cNvPr id="16" name="EG_SLOT_ESTRATEGICA_DIMENSAO_IMAGEM_1">
            <a:extLst>
              <a:ext uri="{FF2B5EF4-FFF2-40B4-BE49-F238E27FC236}">
                <a16:creationId xmlns:a16="http://schemas.microsoft.com/office/drawing/2014/main" id="{512BE040-CB03-3D8F-9FCC-4746DCFF68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6087" y="326232"/>
            <a:ext cx="4478594" cy="2983862"/>
          </a:xfrm>
          <a:prstGeom prst="rect">
            <a:avLst/>
          </a:prstGeom>
        </p:spPr>
      </p:pic>
      <p:pic>
        <p:nvPicPr>
          <p:cNvPr id="17" name="EG_SLOT_ESTRATEGICA_DIMENSAO_IMAGEM_2">
            <a:extLst>
              <a:ext uri="{FF2B5EF4-FFF2-40B4-BE49-F238E27FC236}">
                <a16:creationId xmlns:a16="http://schemas.microsoft.com/office/drawing/2014/main" id="{C5A6D24A-933E-48E7-5CF9-43778B3AFE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6087" y="3429000"/>
            <a:ext cx="4478593" cy="29838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3A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Potencial construtivo e urbanístico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66928"/>
            <a:ext cx="1143000" cy="0"/>
          </a:xfrm>
          <a:prstGeom prst="line">
            <a:avLst/>
          </a:prstGeom>
          <a:noFill/>
          <a:ln w="12700">
            <a:solidFill>
              <a:srgbClr val="C9D3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3931920" y="201168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0"/>
                </a:solidFill>
              </a:rPr>
              <a:t>{{potencial_urbanistico}}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85800" y="1078992"/>
            <a:ext cx="1325880" cy="320040"/>
          </a:xfrm>
          <a:prstGeom prst="roundRect">
            <a:avLst>
              <a:gd name="adj" fmla="val 8571"/>
            </a:avLst>
          </a:prstGeom>
          <a:solidFill>
            <a:srgbClr val="E9EEF2"/>
          </a:solidFill>
          <a:ln w="12700">
            <a:solidFill>
              <a:srgbClr val="D6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86384" y="1161288"/>
            <a:ext cx="1325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13A63"/>
                </a:solidFill>
              </a:rPr>
              <a:t>Zoneamento</a:t>
            </a:r>
            <a:endParaRPr lang="en-US" sz="880" dirty="0"/>
          </a:p>
        </p:txBody>
      </p:sp>
      <p:sp>
        <p:nvSpPr>
          <p:cNvPr id="7" name="Shape 5"/>
          <p:cNvSpPr/>
          <p:nvPr/>
        </p:nvSpPr>
        <p:spPr>
          <a:xfrm>
            <a:off x="2112265" y="1078992"/>
            <a:ext cx="2719964" cy="320040"/>
          </a:xfrm>
          <a:prstGeom prst="roundRect">
            <a:avLst>
              <a:gd name="adj" fmla="val 8571"/>
            </a:avLst>
          </a:prstGeom>
          <a:solidFill>
            <a:srgbClr val="F5F6F7"/>
          </a:solidFill>
          <a:ln w="12700">
            <a:solidFill>
              <a:srgbClr val="D6DEE5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8" name="Text 6"/>
          <p:cNvSpPr/>
          <p:nvPr/>
        </p:nvSpPr>
        <p:spPr>
          <a:xfrm>
            <a:off x="2112264" y="1133856"/>
            <a:ext cx="27199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 err="1">
                <a:solidFill>
                  <a:srgbClr val="5B6770"/>
                </a:solidFill>
              </a:rPr>
              <a:t>{{observacoes_urbanisticas}}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85800" y="1499616"/>
            <a:ext cx="1325880" cy="320040"/>
          </a:xfrm>
          <a:prstGeom prst="roundRect">
            <a:avLst>
              <a:gd name="adj" fmla="val 8571"/>
            </a:avLst>
          </a:prstGeom>
          <a:solidFill>
            <a:srgbClr val="E9EEF2"/>
          </a:solidFill>
          <a:ln w="12700">
            <a:solidFill>
              <a:srgbClr val="D6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786384" y="1581912"/>
            <a:ext cx="1325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13A63"/>
                </a:solidFill>
              </a:rPr>
              <a:t>Ocupação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2112264" y="1499616"/>
            <a:ext cx="2719964" cy="320040"/>
          </a:xfrm>
          <a:prstGeom prst="roundRect">
            <a:avLst>
              <a:gd name="adj" fmla="val 8571"/>
            </a:avLst>
          </a:prstGeom>
          <a:solidFill>
            <a:srgbClr val="F5F6F7"/>
          </a:solidFill>
          <a:ln w="12700">
            <a:solidFill>
              <a:srgbClr val="D6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103270" y="1549908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0"/>
                </a:solidFill>
              </a:rPr>
              <a:t>{{potencial_urbanistico}}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85800" y="1920240"/>
            <a:ext cx="1325880" cy="320040"/>
          </a:xfrm>
          <a:prstGeom prst="roundRect">
            <a:avLst>
              <a:gd name="adj" fmla="val 8571"/>
            </a:avLst>
          </a:prstGeom>
          <a:solidFill>
            <a:srgbClr val="A5C7DD"/>
          </a:solidFill>
          <a:ln w="12700">
            <a:solidFill>
              <a:srgbClr val="D6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86384" y="2002536"/>
            <a:ext cx="1325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13A63"/>
                </a:solidFill>
              </a:rPr>
              <a:t>Índices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2103271" y="1920240"/>
            <a:ext cx="2719964" cy="320040"/>
          </a:xfrm>
          <a:prstGeom prst="roundRect">
            <a:avLst>
              <a:gd name="adj" fmla="val 8571"/>
            </a:avLst>
          </a:prstGeom>
          <a:solidFill>
            <a:srgbClr val="F5F6F7"/>
          </a:solidFill>
          <a:ln w="12700">
            <a:solidFill>
              <a:srgbClr val="D6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2112263" y="1975104"/>
            <a:ext cx="2710971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 err="1">
                <a:solidFill>
                  <a:srgbClr val="5B6770"/>
                </a:solidFill>
              </a:rPr>
              <a:t>A confirmar por legislação urbanística e análise técnica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85800" y="2340864"/>
            <a:ext cx="1325880" cy="320040"/>
          </a:xfrm>
          <a:prstGeom prst="roundRect">
            <a:avLst>
              <a:gd name="adj" fmla="val 8571"/>
            </a:avLst>
          </a:prstGeom>
          <a:solidFill>
            <a:srgbClr val="E9EEF2"/>
          </a:solidFill>
          <a:ln w="12700">
            <a:solidFill>
              <a:srgbClr val="D6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86384" y="2423160"/>
            <a:ext cx="1325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13A63"/>
                </a:solidFill>
              </a:rPr>
              <a:t>Acesso / recursos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112263" y="2340864"/>
            <a:ext cx="2719964" cy="320040"/>
          </a:xfrm>
          <a:prstGeom prst="roundRect">
            <a:avLst>
              <a:gd name="adj" fmla="val 8571"/>
            </a:avLst>
          </a:prstGeom>
          <a:solidFill>
            <a:srgbClr val="F5F6F7"/>
          </a:solidFill>
          <a:ln w="12700">
            <a:solidFill>
              <a:srgbClr val="D6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2112262" y="2395728"/>
            <a:ext cx="2615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0"/>
                </a:solidFill>
              </a:rPr>
              <a:t>Depende de validação de acessos, infraestrutura e serviços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85800" y="2761488"/>
            <a:ext cx="1325880" cy="320040"/>
          </a:xfrm>
          <a:prstGeom prst="roundRect">
            <a:avLst>
              <a:gd name="adj" fmla="val 8571"/>
            </a:avLst>
          </a:prstGeom>
          <a:solidFill>
            <a:srgbClr val="E9EEF2"/>
          </a:solidFill>
          <a:ln w="12700">
            <a:solidFill>
              <a:srgbClr val="D6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786384" y="2843784"/>
            <a:ext cx="1325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13A63"/>
                </a:solidFill>
              </a:rPr>
              <a:t>Configuração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112263" y="2761488"/>
            <a:ext cx="2710971" cy="320040"/>
          </a:xfrm>
          <a:prstGeom prst="roundRect">
            <a:avLst>
              <a:gd name="adj" fmla="val 8571"/>
            </a:avLst>
          </a:prstGeom>
          <a:solidFill>
            <a:srgbClr val="F5F6F7"/>
          </a:solidFill>
          <a:ln w="12700">
            <a:solidFill>
              <a:srgbClr val="D6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2103270" y="2816352"/>
            <a:ext cx="271097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0"/>
                </a:solidFill>
              </a:rPr>
              <a:t>{{potencial_urbanistico}}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005966" y="4710045"/>
            <a:ext cx="5487095" cy="246006"/>
          </a:xfrm>
          <a:prstGeom prst="rect">
            <a:avLst/>
          </a:prstGeom>
          <a:solidFill>
            <a:srgbClr val="C58D22"/>
          </a:solidFill>
          <a:ln w="12700">
            <a:solidFill>
              <a:srgbClr val="C58D22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7" name="Text 24"/>
          <p:cNvSpPr/>
          <p:nvPr/>
        </p:nvSpPr>
        <p:spPr>
          <a:xfrm>
            <a:off x="5079118" y="4812791"/>
            <a:ext cx="5116934" cy="123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Potencial preliminar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005966" y="4962975"/>
            <a:ext cx="5487095" cy="246006"/>
          </a:xfrm>
          <a:prstGeom prst="rect">
            <a:avLst/>
          </a:prstGeom>
          <a:solidFill>
            <a:srgbClr val="D79F29"/>
          </a:solidFill>
          <a:ln w="12700">
            <a:solidFill>
              <a:srgbClr val="D79F2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6"/>
          <p:cNvSpPr/>
          <p:nvPr/>
        </p:nvSpPr>
        <p:spPr>
          <a:xfrm>
            <a:off x="5038278" y="5013322"/>
            <a:ext cx="5285363" cy="123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 err="1">
                <a:solidFill>
                  <a:srgbClr val="FFFFFF"/>
                </a:solidFill>
              </a:rPr>
              <a:t>{{potencial_urbanistico}}</a:t>
            </a:r>
            <a:endParaRPr lang="en-US" sz="780" dirty="0"/>
          </a:p>
        </p:txBody>
      </p:sp>
      <p:pic>
        <p:nvPicPr>
          <p:cNvPr id="30" name="EG_FIXED_LOGO_RODAPE_S6" descr="_estate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680" y="6400800"/>
            <a:ext cx="1005840" cy="237744"/>
          </a:xfrm>
          <a:prstGeom prst="rect">
            <a:avLst/>
          </a:prstGeom>
        </p:spPr>
      </p:pic>
      <p:pic>
        <p:nvPicPr>
          <p:cNvPr id="31" name="EG_SLOT_ESTRATEGICA_POTENCIAL_IMAGEM">
            <a:extLst>
              <a:ext uri="{FF2B5EF4-FFF2-40B4-BE49-F238E27FC236}">
                <a16:creationId xmlns:a16="http://schemas.microsoft.com/office/drawing/2014/main" id="{31D21813-3B2B-385E-699C-1726F229E7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5965" y="1040202"/>
            <a:ext cx="5478103" cy="36698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3A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Diferenciais do produto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66928"/>
            <a:ext cx="1143000" cy="0"/>
          </a:xfrm>
          <a:prstGeom prst="line">
            <a:avLst/>
          </a:prstGeom>
          <a:noFill/>
          <a:ln w="12700">
            <a:solidFill>
              <a:srgbClr val="C9D3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79F29"/>
                </a:solidFill>
              </a:rPr>
              <a:t>{{area_aproximada}}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07008" y="106984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5B6770"/>
                </a:solidFill>
              </a:rPr>
              <a:t>área aprox.</a:t>
            </a:r>
            <a:endParaRPr lang="en-US" sz="920" dirty="0"/>
          </a:p>
          <a:p>
            <a:pPr marL="0" indent="0">
              <a:buNone/>
            </a:pPr>
            <a:endParaRPr lang="en-US" sz="920" dirty="0"/>
          </a:p>
        </p:txBody>
      </p:sp>
      <p:sp>
        <p:nvSpPr>
          <p:cNvPr id="7" name="Text 5"/>
          <p:cNvSpPr/>
          <p:nvPr/>
        </p:nvSpPr>
        <p:spPr>
          <a:xfrm>
            <a:off x="973394" y="1527933"/>
            <a:ext cx="28808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313F"/>
                </a:solidFill>
              </a:rPr>
              <a:t>{{valor_referencia}}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15583" y="854964"/>
            <a:ext cx="16239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58D22"/>
                </a:solidFill>
              </a:rPr>
              <a:t>•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80176" y="864108"/>
            <a:ext cx="55432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2313F"/>
                </a:solidFill>
              </a:rPr>
              <a:t>{{diferenciais}}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15583" y="1330452"/>
            <a:ext cx="16239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58D22"/>
                </a:solidFill>
              </a:rPr>
              <a:t/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80176" y="1339596"/>
            <a:ext cx="55432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2313F"/>
                </a:solidFill>
              </a:rPr>
              <a:t/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15583" y="1805940"/>
            <a:ext cx="16239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58D22"/>
                </a:solidFill>
              </a:rPr>
              <a:t/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80176" y="1815084"/>
            <a:ext cx="55432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2313F"/>
                </a:solidFill>
              </a:rPr>
              <a:t/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815583" y="2281428"/>
            <a:ext cx="16239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58D22"/>
                </a:solidFill>
              </a:rPr>
              <a:t/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77982" y="2199132"/>
            <a:ext cx="55432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000" dirty="0" err="1"/>
              <a:t/>
            </a:r>
          </a:p>
        </p:txBody>
      </p:sp>
      <p:sp>
        <p:nvSpPr>
          <p:cNvPr id="16" name="Text 14"/>
          <p:cNvSpPr/>
          <p:nvPr/>
        </p:nvSpPr>
        <p:spPr>
          <a:xfrm>
            <a:off x="5815583" y="2756916"/>
            <a:ext cx="16239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58D22"/>
                </a:solidFill>
              </a:rPr>
              <a:t/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80176" y="2766060"/>
            <a:ext cx="55432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2313F"/>
                </a:solidFill>
              </a:rPr>
              <a:t/>
            </a:r>
            <a:endParaRPr lang="en-US" sz="1000" dirty="0"/>
          </a:p>
        </p:txBody>
      </p:sp>
      <p:pic>
        <p:nvPicPr>
          <p:cNvPr id="21" name="EG_FIXED_LOGO_RODAPE_S7" descr="_estate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680" y="6400800"/>
            <a:ext cx="1005840" cy="237744"/>
          </a:xfrm>
          <a:prstGeom prst="rect">
            <a:avLst/>
          </a:prstGeom>
        </p:spPr>
      </p:pic>
      <p:pic>
        <p:nvPicPr>
          <p:cNvPr id="22" name="EG_SLOT_ESTRATEGICA_DIFERENCIAIS_IMAGEM">
            <a:extLst>
              <a:ext uri="{FF2B5EF4-FFF2-40B4-BE49-F238E27FC236}">
                <a16:creationId xmlns:a16="http://schemas.microsoft.com/office/drawing/2014/main" id="{E4946AA8-246D-647E-6BAC-CC51CF1FB2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304" y="3054096"/>
            <a:ext cx="9409373" cy="35844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3A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 do ativo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66928"/>
            <a:ext cx="1143000" cy="0"/>
          </a:xfrm>
          <a:prstGeom prst="line">
            <a:avLst/>
          </a:prstGeom>
          <a:noFill/>
          <a:ln w="12700">
            <a:solidFill>
              <a:srgbClr val="C9D3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3931920" y="201168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0"/>
                </a:solidFill>
              </a:rPr>
              <a:t>{{escala_ativo}}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68680" y="11704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313F"/>
                </a:solidFill>
              </a:rPr>
              <a:t>Área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22313F"/>
                </a:solidFill>
              </a:rPr>
              <a:t>aproximada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22313F"/>
                </a:solidFill>
              </a:rPr>
              <a:t>do ativo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874520" y="1325880"/>
            <a:ext cx="3703320" cy="436208"/>
          </a:xfrm>
          <a:prstGeom prst="rect">
            <a:avLst/>
          </a:prstGeom>
          <a:solidFill>
            <a:srgbClr val="113A63"/>
          </a:solidFill>
          <a:ln w="12700">
            <a:solidFill>
              <a:srgbClr val="113A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796667" y="1461073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{{area_aproximada}}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868680" y="18745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313F"/>
                </a:solidFill>
              </a:rPr>
              <a:t>Valor de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22313F"/>
                </a:solidFill>
              </a:rPr>
              <a:t>referência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74519" y="1874520"/>
            <a:ext cx="2815467" cy="365760"/>
          </a:xfrm>
          <a:prstGeom prst="rect">
            <a:avLst/>
          </a:prstGeom>
          <a:solidFill>
            <a:srgbClr val="D79F29"/>
          </a:solidFill>
          <a:ln w="12700">
            <a:solidFill>
              <a:srgbClr val="D79F2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3977640" y="1963256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{{valor_referencia}}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60119" y="240595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313F"/>
                </a:solidFill>
              </a:rPr>
              <a:t>Status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874519" y="2350549"/>
            <a:ext cx="2384224" cy="293690"/>
          </a:xfrm>
          <a:prstGeom prst="rect">
            <a:avLst/>
          </a:prstGeom>
          <a:solidFill>
            <a:srgbClr val="B78A34"/>
          </a:solidFill>
          <a:ln w="12700">
            <a:solidFill>
              <a:srgbClr val="B78A34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3" name="Text 11"/>
          <p:cNvSpPr/>
          <p:nvPr/>
        </p:nvSpPr>
        <p:spPr>
          <a:xfrm>
            <a:off x="3793531" y="2455116"/>
            <a:ext cx="276778" cy="1828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[necessário DM / consulta urbanística]</a:t>
            </a:r>
            <a:endParaRPr lang="en-US" sz="800" dirty="0"/>
          </a:p>
        </p:txBody>
      </p:sp>
      <p:pic>
        <p:nvPicPr>
          <p:cNvPr id="14" name="EG_SLOT_ESTRATEGICA_ESCALA_IMAGEM" descr="/mnt/data/FPTP 2 (1).jpeg"/>
          <p:cNvPicPr>
            <a:picLocks noChangeAspect="1"/>
          </p:cNvPicPr>
          <p:nvPr/>
        </p:nvPicPr>
        <p:blipFill>
          <a:blip r:embed="rId3"/>
          <a:srcRect l="3766" r="3766"/>
          <a:stretch/>
        </p:blipFill>
        <p:spPr>
          <a:xfrm>
            <a:off x="5655564" y="1316735"/>
            <a:ext cx="5774436" cy="351267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209368" y="5344668"/>
            <a:ext cx="997974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5B6770"/>
                </a:solidFill>
              </a:rPr>
              <a:t>* Área e valor de referência sujeitos à validação técnica, jurídica, ambiental e urbanística.</a:t>
            </a:r>
            <a:endParaRPr lang="en-US" sz="1600" dirty="0"/>
          </a:p>
        </p:txBody>
      </p:sp>
      <p:pic>
        <p:nvPicPr>
          <p:cNvPr id="16" name="EG_FIXED_LOGO_RODAPE_S8" descr="_estate_logo_foo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74680" y="6400800"/>
            <a:ext cx="1005840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4517" y="2658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3A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Condições de negócio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14517" y="576760"/>
            <a:ext cx="1143000" cy="0"/>
          </a:xfrm>
          <a:prstGeom prst="line">
            <a:avLst/>
          </a:prstGeom>
          <a:noFill/>
          <a:ln w="12700">
            <a:solidFill>
              <a:srgbClr val="C9D3DC"/>
            </a:solidFill>
            <a:prstDash val="solid"/>
          </a:ln>
        </p:spPr>
        <p:txBody>
          <a:bodyPr/>
          <a:lstStyle/>
          <a:p>
            <a:endParaRPr sz="1200"/>
          </a:p>
        </p:txBody>
      </p:sp>
      <p:sp>
        <p:nvSpPr>
          <p:cNvPr id="4" name="Text 2"/>
          <p:cNvSpPr/>
          <p:nvPr/>
        </p:nvSpPr>
        <p:spPr>
          <a:xfrm>
            <a:off x="631232" y="1351849"/>
            <a:ext cx="2635045" cy="558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3A63"/>
                </a:solidFill>
              </a:rPr>
              <a:t>Valor de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3A63"/>
                </a:solidFill>
              </a:rPr>
              <a:t>referência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7754" y="2030507"/>
            <a:ext cx="2635045" cy="446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79F29"/>
                </a:solidFill>
              </a:rPr>
              <a:t>{{valor_referencia}}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62421" y="2338011"/>
            <a:ext cx="2116393" cy="102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770"/>
                </a:solidFill>
              </a:rPr>
              <a:t>Referência inicial para avaliação comercial do ativo.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43117" y="3540498"/>
            <a:ext cx="3471966" cy="0"/>
          </a:xfrm>
          <a:prstGeom prst="line">
            <a:avLst/>
          </a:prstGeom>
          <a:noFill/>
          <a:ln w="12700">
            <a:solidFill>
              <a:srgbClr val="C9D3DC"/>
            </a:solidFill>
            <a:prstDash val="solid"/>
          </a:ln>
        </p:spPr>
        <p:txBody>
          <a:bodyPr/>
          <a:lstStyle/>
          <a:p>
            <a:endParaRPr sz="1200" dirty="0"/>
          </a:p>
        </p:txBody>
      </p:sp>
      <p:sp>
        <p:nvSpPr>
          <p:cNvPr id="8" name="Text 6"/>
          <p:cNvSpPr/>
          <p:nvPr/>
        </p:nvSpPr>
        <p:spPr>
          <a:xfrm>
            <a:off x="3870469" y="1339837"/>
            <a:ext cx="3034235" cy="558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3A63"/>
                </a:solidFill>
              </a:rPr>
              <a:t>Estrutura a definir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88542" y="1918709"/>
            <a:ext cx="2330246" cy="446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3A63"/>
                </a:solidFill>
              </a:rPr>
              <a:t>Negociação e
condições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77524" y="2525412"/>
            <a:ext cx="2627180" cy="682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770"/>
                </a:solidFill>
              </a:rPr>
              <a:t>{{condicoes_negocio}}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523194" y="3540498"/>
            <a:ext cx="3471966" cy="0"/>
          </a:xfrm>
          <a:prstGeom prst="line">
            <a:avLst/>
          </a:prstGeom>
          <a:noFill/>
          <a:ln w="12700">
            <a:solidFill>
              <a:srgbClr val="C9D3DC"/>
            </a:solidFill>
            <a:prstDash val="solid"/>
          </a:ln>
        </p:spPr>
        <p:txBody>
          <a:bodyPr/>
          <a:lstStyle/>
          <a:p>
            <a:endParaRPr sz="1200" dirty="0"/>
          </a:p>
        </p:txBody>
      </p:sp>
      <p:sp>
        <p:nvSpPr>
          <p:cNvPr id="12" name="Text 10"/>
          <p:cNvSpPr/>
          <p:nvPr/>
        </p:nvSpPr>
        <p:spPr>
          <a:xfrm>
            <a:off x="7162309" y="1244080"/>
            <a:ext cx="2522465" cy="558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3A63"/>
                </a:solidFill>
              </a:rPr>
              <a:t>Base da operação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98775" y="1969053"/>
            <a:ext cx="2104104" cy="446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3A63"/>
                </a:solidFill>
              </a:rPr>
              <a:t>{{observacoes_urbanisticas}}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52853" y="2563172"/>
            <a:ext cx="1995948" cy="682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770"/>
                </a:solidFill>
              </a:rPr>
              <a:t>Due diligence necessária para confirmar matrícula, parâmetros urbanísticos, infraestrutura e condições finais.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38951" y="3540498"/>
            <a:ext cx="3471966" cy="0"/>
          </a:xfrm>
          <a:prstGeom prst="line">
            <a:avLst/>
          </a:prstGeom>
          <a:noFill/>
          <a:ln w="12700">
            <a:solidFill>
              <a:srgbClr val="C9D3DC"/>
            </a:solidFill>
            <a:prstDash val="solid"/>
          </a:ln>
        </p:spPr>
        <p:txBody>
          <a:bodyPr/>
          <a:lstStyle/>
          <a:p>
            <a:endParaRPr sz="1200"/>
          </a:p>
        </p:txBody>
      </p:sp>
      <p:sp>
        <p:nvSpPr>
          <p:cNvPr id="17" name="Text 14"/>
          <p:cNvSpPr/>
          <p:nvPr/>
        </p:nvSpPr>
        <p:spPr>
          <a:xfrm>
            <a:off x="843117" y="5907712"/>
            <a:ext cx="6609736" cy="80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770"/>
                </a:solidFill>
              </a:rPr>
              <a:t>{{condicoes_negocio}}</a:t>
            </a:r>
            <a:endParaRPr lang="en-US" sz="1200" dirty="0"/>
          </a:p>
        </p:txBody>
      </p:sp>
      <p:pic>
        <p:nvPicPr>
          <p:cNvPr id="18" name="EG_FIXED_LOGO_RODAPE_S9" descr="_estate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997" y="6410632"/>
            <a:ext cx="1005840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G_FIXED_CONTATO_TEXTO_S10_1"/>
          <p:cNvSpPr/>
          <p:nvPr/>
        </p:nvSpPr>
        <p:spPr>
          <a:xfrm>
            <a:off x="406400" y="365760"/>
            <a:ext cx="11379200" cy="6096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E4EF"/>
            </a:solidFill>
            <a:prstDash val="solid"/>
          </a:ln>
          <a:effectLst>
            <a:outerShdw blurRad="19050" dist="1016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sz="4000"/>
          </a:p>
        </p:txBody>
      </p:sp>
      <p:sp>
        <p:nvSpPr>
          <p:cNvPr id="3" name="EG_FIXED_CONTATO_TEXTO_S10_2"/>
          <p:cNvSpPr/>
          <p:nvPr/>
        </p:nvSpPr>
        <p:spPr>
          <a:xfrm>
            <a:off x="406400" y="365760"/>
            <a:ext cx="325120" cy="6096000"/>
          </a:xfrm>
          <a:prstGeom prst="rect">
            <a:avLst/>
          </a:prstGeom>
          <a:solidFill>
            <a:srgbClr val="1F5F93"/>
          </a:solidFill>
          <a:ln w="12700">
            <a:solidFill>
              <a:srgbClr val="1F5F93"/>
            </a:solidFill>
            <a:prstDash val="solid"/>
          </a:ln>
        </p:spPr>
        <p:txBody>
          <a:bodyPr/>
          <a:lstStyle/>
          <a:p>
            <a:endParaRPr lang="pt-BR" sz="4000"/>
          </a:p>
        </p:txBody>
      </p:sp>
      <p:sp>
        <p:nvSpPr>
          <p:cNvPr id="4" name="EG_FIXED_CONTATO_TEXTO_S10_3"/>
          <p:cNvSpPr/>
          <p:nvPr/>
        </p:nvSpPr>
        <p:spPr>
          <a:xfrm>
            <a:off x="975360" y="650240"/>
            <a:ext cx="508000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1F5F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ESTATE GOVER</a:t>
            </a:r>
            <a:endParaRPr lang="en-US" sz="4000" dirty="0"/>
          </a:p>
        </p:txBody>
      </p:sp>
      <p:sp>
        <p:nvSpPr>
          <p:cNvPr id="5" name="EG_FIXED_CONTATO_TEXTO_S10_4"/>
          <p:cNvSpPr/>
          <p:nvPr/>
        </p:nvSpPr>
        <p:spPr>
          <a:xfrm>
            <a:off x="975360" y="1625600"/>
            <a:ext cx="5689600" cy="690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44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Márcio Castro Alves</a:t>
            </a:r>
            <a:endParaRPr lang="en-US" sz="4444" dirty="0"/>
          </a:p>
        </p:txBody>
      </p:sp>
      <p:sp>
        <p:nvSpPr>
          <p:cNvPr id="6" name="EG_FIXED_CONTATO_TEXTO_S10_5"/>
          <p:cNvSpPr/>
          <p:nvPr/>
        </p:nvSpPr>
        <p:spPr>
          <a:xfrm>
            <a:off x="975360" y="2336800"/>
            <a:ext cx="568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33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 - Chief Legal Officer</a:t>
            </a:r>
            <a:endParaRPr lang="en-US" sz="2333" dirty="0"/>
          </a:p>
        </p:txBody>
      </p:sp>
      <p:sp>
        <p:nvSpPr>
          <p:cNvPr id="7" name="EG_FIXED_CONTATO_TEXTO_S10_6"/>
          <p:cNvSpPr/>
          <p:nvPr/>
        </p:nvSpPr>
        <p:spPr>
          <a:xfrm>
            <a:off x="975360" y="3495040"/>
            <a:ext cx="3251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44" b="1" dirty="0">
                <a:solidFill>
                  <a:srgbClr val="1F5F93"/>
                </a:solidFill>
              </a:rPr>
              <a:t>Contato rápido</a:t>
            </a:r>
            <a:endParaRPr lang="en-US" sz="2444" dirty="0"/>
          </a:p>
        </p:txBody>
      </p:sp>
      <p:sp>
        <p:nvSpPr>
          <p:cNvPr id="8" name="EG_FIXED_CONTATO_TEXTO_S10_7">
            <a:hlinkClick r:id="rId3"/>
          </p:cNvPr>
          <p:cNvSpPr/>
          <p:nvPr/>
        </p:nvSpPr>
        <p:spPr>
          <a:xfrm>
            <a:off x="975360" y="4023360"/>
            <a:ext cx="5080000" cy="1117600"/>
          </a:xfrm>
          <a:prstGeom prst="roundRect">
            <a:avLst>
              <a:gd name="adj" fmla="val 14545"/>
            </a:avLst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  <p:txBody>
          <a:bodyPr/>
          <a:lstStyle/>
          <a:p>
            <a:endParaRPr lang="pt-BR" sz="4000"/>
          </a:p>
        </p:txBody>
      </p:sp>
      <p:sp>
        <p:nvSpPr>
          <p:cNvPr id="9" name="EG_FIXED_CONTATO_TEXTO_S10_8">
            <a:hlinkClick r:id="rId3"/>
          </p:cNvPr>
          <p:cNvSpPr/>
          <p:nvPr/>
        </p:nvSpPr>
        <p:spPr>
          <a:xfrm>
            <a:off x="1463040" y="4307840"/>
            <a:ext cx="193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78" b="1" u="sng" dirty="0">
                <a:solidFill>
                  <a:srgbClr val="FFFF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WhatsApp</a:t>
            </a:r>
            <a:endParaRPr lang="en-US" sz="2778" dirty="0"/>
          </a:p>
        </p:txBody>
      </p:sp>
      <p:sp>
        <p:nvSpPr>
          <p:cNvPr id="10" name="EG_FIXED_CONTATO_TEXTO_S10_9">
            <a:hlinkClick r:id="rId3"/>
          </p:cNvPr>
          <p:cNvSpPr/>
          <p:nvPr/>
        </p:nvSpPr>
        <p:spPr>
          <a:xfrm>
            <a:off x="3291839" y="4307840"/>
            <a:ext cx="26271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56" u="sng" dirty="0">
                <a:solidFill>
                  <a:srgbClr val="FFFF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(51) 98138-1742</a:t>
            </a:r>
            <a:endParaRPr lang="en-US" sz="2556" dirty="0"/>
          </a:p>
        </p:txBody>
      </p:sp>
      <p:sp>
        <p:nvSpPr>
          <p:cNvPr id="12" name="EG_FIXED_CONTATO_TEXTO_S10_10"/>
          <p:cNvSpPr/>
          <p:nvPr/>
        </p:nvSpPr>
        <p:spPr>
          <a:xfrm>
            <a:off x="7416800" y="1259840"/>
            <a:ext cx="3149600" cy="3860800"/>
          </a:xfrm>
          <a:prstGeom prst="roundRect">
            <a:avLst>
              <a:gd name="adj" fmla="val 3871"/>
            </a:avLst>
          </a:prstGeom>
          <a:solidFill>
            <a:srgbClr val="EAF3FA"/>
          </a:solidFill>
          <a:ln w="12700">
            <a:solidFill>
              <a:srgbClr val="D8E4EF"/>
            </a:solidFill>
            <a:prstDash val="solid"/>
          </a:ln>
        </p:spPr>
        <p:txBody>
          <a:bodyPr/>
          <a:lstStyle/>
          <a:p>
            <a:endParaRPr lang="pt-BR" sz="4000"/>
          </a:p>
        </p:txBody>
      </p:sp>
      <p:sp>
        <p:nvSpPr>
          <p:cNvPr id="13" name="EG_FIXED_CONTATO_TEXTO_S10_11"/>
          <p:cNvSpPr/>
          <p:nvPr/>
        </p:nvSpPr>
        <p:spPr>
          <a:xfrm>
            <a:off x="8087360" y="1666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44" b="1" dirty="0">
                <a:solidFill>
                  <a:srgbClr val="1F5F93"/>
                </a:solidFill>
              </a:rPr>
              <a:t>QR Code</a:t>
            </a:r>
            <a:endParaRPr lang="en-US" sz="2444" dirty="0"/>
          </a:p>
        </p:txBody>
      </p:sp>
      <p:pic>
        <p:nvPicPr>
          <p:cNvPr id="14" name="EG_FIXED_QR_WHATSAPP_S10" descr="/mnt/data/contact_assets/marcio_whatsapp_qr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800" y="2194560"/>
            <a:ext cx="2133600" cy="2133600"/>
          </a:xfrm>
          <a:prstGeom prst="rect">
            <a:avLst/>
          </a:prstGeom>
        </p:spPr>
      </p:pic>
      <p:sp>
        <p:nvSpPr>
          <p:cNvPr id="15" name="EG_FIXED_CONTATO_TEXTO_S10_13">
            <a:hlinkClick r:id="rId3"/>
          </p:cNvPr>
          <p:cNvSpPr/>
          <p:nvPr/>
        </p:nvSpPr>
        <p:spPr>
          <a:xfrm>
            <a:off x="7762240" y="4551680"/>
            <a:ext cx="2438400" cy="325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pt-BR" dirty="0">
                <a:hlinkClick r:id="rId3"/>
              </a:rPr>
              <a:t>https://api.whatsapp.com/send?phone=5551981381742</a:t>
            </a:r>
            <a:endParaRPr lang="pt-BR" dirty="0"/>
          </a:p>
          <a:p>
            <a:pPr algn="ctr"/>
            <a:endParaRPr lang="en-US" sz="211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G_FIXED_CONTATO_TEXTO_S11_1"/>
          <p:cNvSpPr/>
          <p:nvPr/>
        </p:nvSpPr>
        <p:spPr>
          <a:xfrm>
            <a:off x="406400" y="365760"/>
            <a:ext cx="11379200" cy="6096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E4EF"/>
            </a:solidFill>
            <a:prstDash val="solid"/>
          </a:ln>
          <a:effectLst>
            <a:outerShdw blurRad="19050" dist="1016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sz="4000"/>
          </a:p>
        </p:txBody>
      </p:sp>
      <p:sp>
        <p:nvSpPr>
          <p:cNvPr id="3" name="EG_FIXED_CONTATO_TEXTO_S11_2"/>
          <p:cNvSpPr/>
          <p:nvPr/>
        </p:nvSpPr>
        <p:spPr>
          <a:xfrm>
            <a:off x="406400" y="365760"/>
            <a:ext cx="325120" cy="6096000"/>
          </a:xfrm>
          <a:prstGeom prst="rect">
            <a:avLst/>
          </a:prstGeom>
          <a:solidFill>
            <a:srgbClr val="1F5F93"/>
          </a:solidFill>
          <a:ln w="12700">
            <a:solidFill>
              <a:srgbClr val="1F5F93"/>
            </a:solidFill>
            <a:prstDash val="solid"/>
          </a:ln>
        </p:spPr>
        <p:txBody>
          <a:bodyPr/>
          <a:lstStyle/>
          <a:p>
            <a:endParaRPr lang="pt-BR" sz="4000"/>
          </a:p>
        </p:txBody>
      </p:sp>
      <p:sp>
        <p:nvSpPr>
          <p:cNvPr id="4" name="EG_FIXED_CONTATO_TEXTO_S11_3"/>
          <p:cNvSpPr/>
          <p:nvPr/>
        </p:nvSpPr>
        <p:spPr>
          <a:xfrm>
            <a:off x="975360" y="650240"/>
            <a:ext cx="508000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1F5F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ESTATE GOVER</a:t>
            </a:r>
            <a:endParaRPr lang="en-US" sz="4000" dirty="0"/>
          </a:p>
        </p:txBody>
      </p:sp>
      <p:sp>
        <p:nvSpPr>
          <p:cNvPr id="5" name="EG_FIXED_CONTATO_TEXTO_S11_4"/>
          <p:cNvSpPr/>
          <p:nvPr/>
        </p:nvSpPr>
        <p:spPr>
          <a:xfrm>
            <a:off x="975360" y="1625600"/>
            <a:ext cx="5689600" cy="690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44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Karina Kuhn</a:t>
            </a:r>
            <a:endParaRPr lang="en-US" sz="4444" dirty="0"/>
          </a:p>
        </p:txBody>
      </p:sp>
      <p:sp>
        <p:nvSpPr>
          <p:cNvPr id="6" name="EG_FIXED_CONTATO_TEXTO_S11_5"/>
          <p:cNvSpPr/>
          <p:nvPr/>
        </p:nvSpPr>
        <p:spPr>
          <a:xfrm>
            <a:off x="975360" y="2336800"/>
            <a:ext cx="568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33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Bióloga e Especialista em Licenciamento Ambiental</a:t>
            </a:r>
            <a:endParaRPr lang="en-US" sz="2333" dirty="0"/>
          </a:p>
        </p:txBody>
      </p:sp>
      <p:sp>
        <p:nvSpPr>
          <p:cNvPr id="7" name="EG_FIXED_CONTATO_TEXTO_S11_6"/>
          <p:cNvSpPr/>
          <p:nvPr/>
        </p:nvSpPr>
        <p:spPr>
          <a:xfrm>
            <a:off x="975360" y="3495040"/>
            <a:ext cx="3251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44" b="1" dirty="0">
                <a:solidFill>
                  <a:srgbClr val="1F5F93"/>
                </a:solidFill>
              </a:rPr>
              <a:t>Contato rápido</a:t>
            </a:r>
            <a:endParaRPr lang="en-US" sz="2444" dirty="0"/>
          </a:p>
        </p:txBody>
      </p:sp>
      <p:sp>
        <p:nvSpPr>
          <p:cNvPr id="8" name="EG_FIXED_CONTATO_TEXTO_S11_7">
            <a:hlinkClick r:id="rId3"/>
          </p:cNvPr>
          <p:cNvSpPr/>
          <p:nvPr/>
        </p:nvSpPr>
        <p:spPr>
          <a:xfrm>
            <a:off x="975360" y="4023360"/>
            <a:ext cx="5080000" cy="1117600"/>
          </a:xfrm>
          <a:prstGeom prst="roundRect">
            <a:avLst>
              <a:gd name="adj" fmla="val 14545"/>
            </a:avLst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  <p:txBody>
          <a:bodyPr/>
          <a:lstStyle/>
          <a:p>
            <a:endParaRPr lang="pt-BR" sz="4000"/>
          </a:p>
        </p:txBody>
      </p:sp>
      <p:sp>
        <p:nvSpPr>
          <p:cNvPr id="9" name="EG_FIXED_CONTATO_TEXTO_S11_8">
            <a:hlinkClick r:id="rId3"/>
          </p:cNvPr>
          <p:cNvSpPr/>
          <p:nvPr/>
        </p:nvSpPr>
        <p:spPr>
          <a:xfrm>
            <a:off x="1463040" y="4307840"/>
            <a:ext cx="193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78" b="1" u="sng" dirty="0">
                <a:solidFill>
                  <a:srgbClr val="FFFF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WhatsApp</a:t>
            </a:r>
            <a:endParaRPr lang="en-US" sz="2778" dirty="0"/>
          </a:p>
        </p:txBody>
      </p:sp>
      <p:sp>
        <p:nvSpPr>
          <p:cNvPr id="10" name="EG_FIXED_CONTATO_TEXTO_S11_9">
            <a:hlinkClick r:id="rId3"/>
          </p:cNvPr>
          <p:cNvSpPr/>
          <p:nvPr/>
        </p:nvSpPr>
        <p:spPr>
          <a:xfrm>
            <a:off x="3291840" y="4307840"/>
            <a:ext cx="2366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56" u="sng" dirty="0">
                <a:solidFill>
                  <a:srgbClr val="FFFF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(51) 99832-2906</a:t>
            </a:r>
            <a:endParaRPr lang="en-US" sz="2556" dirty="0"/>
          </a:p>
        </p:txBody>
      </p:sp>
      <p:sp>
        <p:nvSpPr>
          <p:cNvPr id="12" name="EG_FIXED_CONTATO_TEXTO_S11_10"/>
          <p:cNvSpPr/>
          <p:nvPr/>
        </p:nvSpPr>
        <p:spPr>
          <a:xfrm>
            <a:off x="7416800" y="1259840"/>
            <a:ext cx="3149600" cy="3860800"/>
          </a:xfrm>
          <a:prstGeom prst="roundRect">
            <a:avLst>
              <a:gd name="adj" fmla="val 3871"/>
            </a:avLst>
          </a:prstGeom>
          <a:solidFill>
            <a:srgbClr val="EAF3FA"/>
          </a:solidFill>
          <a:ln w="12700">
            <a:solidFill>
              <a:srgbClr val="D8E4EF"/>
            </a:solidFill>
            <a:prstDash val="solid"/>
          </a:ln>
        </p:spPr>
        <p:txBody>
          <a:bodyPr/>
          <a:lstStyle/>
          <a:p>
            <a:endParaRPr lang="pt-BR" sz="4000"/>
          </a:p>
        </p:txBody>
      </p:sp>
      <p:sp>
        <p:nvSpPr>
          <p:cNvPr id="13" name="EG_FIXED_CONTATO_TEXTO_S11_11"/>
          <p:cNvSpPr/>
          <p:nvPr/>
        </p:nvSpPr>
        <p:spPr>
          <a:xfrm>
            <a:off x="8087360" y="1666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44" b="1" dirty="0">
                <a:solidFill>
                  <a:srgbClr val="1F5F93"/>
                </a:solidFill>
              </a:rPr>
              <a:t>QR Code</a:t>
            </a:r>
            <a:endParaRPr lang="en-US" sz="2444" dirty="0"/>
          </a:p>
        </p:txBody>
      </p:sp>
      <p:pic>
        <p:nvPicPr>
          <p:cNvPr id="14" name="EG_FIXED_QR_WHATSAPP_S11" descr="/mnt/data/contact_assets/karina_whatsapp_qr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800" y="2194560"/>
            <a:ext cx="2133600" cy="2133600"/>
          </a:xfrm>
          <a:prstGeom prst="rect">
            <a:avLst/>
          </a:prstGeom>
        </p:spPr>
      </p:pic>
      <p:sp>
        <p:nvSpPr>
          <p:cNvPr id="15" name="EG_FIXED_CONTATO_TEXTO_S11_13">
            <a:hlinkClick r:id="rId3"/>
          </p:cNvPr>
          <p:cNvSpPr/>
          <p:nvPr/>
        </p:nvSpPr>
        <p:spPr>
          <a:xfrm>
            <a:off x="7762240" y="4551680"/>
            <a:ext cx="2438400" cy="325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pt-BR" dirty="0">
                <a:hlinkClick r:id="rId3"/>
              </a:rPr>
              <a:t>https://api.whatsapp.com/send?phone</a:t>
            </a:r>
            <a:r>
              <a:rPr lang="pt-BR">
                <a:hlinkClick r:id="rId3"/>
              </a:rPr>
              <a:t>=5551998322906</a:t>
            </a:r>
            <a:r>
              <a:rPr lang="pt-BR"/>
              <a:t> </a:t>
            </a:r>
            <a:endParaRPr lang="en-US" sz="2111" dirty="0"/>
          </a:p>
        </p:txBody>
      </p:sp>
      <p:sp>
        <p:nvSpPr>
          <p:cNvPr id="16" name="EG_FIXED_CONTATO_TEXTO_S11_14" descr="Karina - PNG">
            <a:extLst>
              <a:ext uri="{FF2B5EF4-FFF2-40B4-BE49-F238E27FC236}">
                <a16:creationId xmlns:a16="http://schemas.microsoft.com/office/drawing/2014/main" id="{A1B09EB7-95DD-C7A4-1F4C-B4BE49CC74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757334" y="3090334"/>
            <a:ext cx="677333" cy="677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203200" tIns="101600" rIns="203200" bIns="101600" numCol="1" anchor="t" anchorCtr="0" compatLnSpc="1">
            <a:prstTxWarp prst="textNoShape">
              <a:avLst/>
            </a:prstTxWarp>
          </a:bodyPr>
          <a:lstStyle/>
          <a:p>
            <a:endParaRPr lang="pt-BR" sz="4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812</Words>
  <Application>Microsoft Macintosh PowerPoint</Application>
  <PresentationFormat>Widescreen</PresentationFormat>
  <Paragraphs>132</Paragraphs>
  <Slides>11</Slides>
  <Notes>11</Notes>
  <HiddenSlides>0</HiddenSlides>
  <MMClips>1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4" baseType="lpstr">
      <vt:lpstr>Aptos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Estate Gover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EG0013 Canela Estratégica</dc:title>
  <dc:subject>EG0013 Canela - apresentação estratégica</dc:subject>
  <dc:creator>OpenAI</dc:creator>
  <cp:lastModifiedBy>Karina Kuhn</cp:lastModifiedBy>
  <cp:revision>9</cp:revision>
  <dcterms:created xsi:type="dcterms:W3CDTF">2026-03-17T09:50:43Z</dcterms:created>
  <dcterms:modified xsi:type="dcterms:W3CDTF">2026-05-26T19:40:27Z</dcterms:modified>
</cp:coreProperties>
</file>