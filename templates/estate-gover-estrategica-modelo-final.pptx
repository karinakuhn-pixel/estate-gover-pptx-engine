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G">
  <p:cSld name="EG">
    <p:bg>
      <p:bgPr>
        <a:solidFill>
          <a:srgbClr val="F5F6F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0424160" y="64008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i.whatsapp.com/send?phone=5551981381742" TargetMode="External"/><Relationship Id="rId4" Type="http://schemas.openxmlformats.org/officeDocument/2006/relationships/hyperlink" Target="https://api.whatsapp.com/send?phone=5551981381742" TargetMode="External"/><Relationship Id="rId11" Type="http://schemas.openxmlformats.org/officeDocument/2006/relationships/hyperlink" Target="https://api.whatsapp.com/send?phone=5551981381742" TargetMode="External"/><Relationship Id="rId10" Type="http://schemas.openxmlformats.org/officeDocument/2006/relationships/hyperlink" Target="https://api.whatsapp.com/send?phone=5551981381742" TargetMode="External"/><Relationship Id="rId9" Type="http://schemas.openxmlformats.org/officeDocument/2006/relationships/image" Target="../media/image1.png"/><Relationship Id="rId5" Type="http://schemas.openxmlformats.org/officeDocument/2006/relationships/hyperlink" Target="https://api.whatsapp.com/send?phone=5551981381742" TargetMode="External"/><Relationship Id="rId6" Type="http://schemas.openxmlformats.org/officeDocument/2006/relationships/hyperlink" Target="https://api.whatsapp.com/send?phone=5551981381742" TargetMode="External"/><Relationship Id="rId7" Type="http://schemas.openxmlformats.org/officeDocument/2006/relationships/hyperlink" Target="https://api.whatsapp.com/send?phone=5551981381742" TargetMode="External"/><Relationship Id="rId8" Type="http://schemas.openxmlformats.org/officeDocument/2006/relationships/hyperlink" Target="https://api.whatsapp.com/send?phone=555198138174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pi.whatsapp.com/send?phone=5551998322906" TargetMode="External"/><Relationship Id="rId4" Type="http://schemas.openxmlformats.org/officeDocument/2006/relationships/hyperlink" Target="https://api.whatsapp.com/send?phone=5551998322906" TargetMode="External"/><Relationship Id="rId11" Type="http://schemas.openxmlformats.org/officeDocument/2006/relationships/hyperlink" Target="https://api.whatsapp.com/send?phone=5551998322906" TargetMode="External"/><Relationship Id="rId10" Type="http://schemas.openxmlformats.org/officeDocument/2006/relationships/hyperlink" Target="https://api.whatsapp.com/send?phone=5551998322906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api.whatsapp.com/send?phone=5551998322906" TargetMode="External"/><Relationship Id="rId6" Type="http://schemas.openxmlformats.org/officeDocument/2006/relationships/hyperlink" Target="https://api.whatsapp.com/send?phone=5551998322906" TargetMode="External"/><Relationship Id="rId7" Type="http://schemas.openxmlformats.org/officeDocument/2006/relationships/hyperlink" Target="https://api.whatsapp.com/send?phone=5551998322906" TargetMode="External"/><Relationship Id="rId8" Type="http://schemas.openxmlformats.org/officeDocument/2006/relationships/hyperlink" Target="https://api.whatsapp.com/send?phone=55519983229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eg0013_capa_work/right_bg.png"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0"/>
            <a:ext cx="73910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D3E5F"/>
          </a:solidFill>
          <a:ln cap="flat" cmpd="sng" w="12700">
            <a:solidFill>
              <a:srgbClr val="0C3A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5138928"/>
            <a:ext cx="4800600" cy="1719072"/>
          </a:xfrm>
          <a:prstGeom prst="rect">
            <a:avLst/>
          </a:prstGeom>
          <a:solidFill>
            <a:srgbClr val="0A314D">
              <a:alpha val="81960"/>
            </a:srgbClr>
          </a:solidFill>
          <a:ln cap="flat" cmpd="sng" w="12700">
            <a:solidFill>
              <a:srgbClr val="0A31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g0013_capa_work/logo.png" id="21" name="Google Shape;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" y="194005"/>
            <a:ext cx="1417320" cy="444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658368" y="159105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ESTATE GOVER ÁREAS RURAIS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58368" y="26334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Código do ativo: EG0013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557784" y="2926080"/>
            <a:ext cx="1143000" cy="0"/>
          </a:xfrm>
          <a:prstGeom prst="straightConnector1">
            <a:avLst/>
          </a:prstGeom>
          <a:noFill/>
          <a:ln cap="flat" cmpd="sng" w="19050">
            <a:solidFill>
              <a:srgbClr val="C9A3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/>
          <p:nvPr/>
        </p:nvSpPr>
        <p:spPr>
          <a:xfrm>
            <a:off x="658368" y="3182112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Canela - RS | Área rural com potencial preliminar para natureza, refúgio qualificado e implantação de baixa densidade, sujeita à confirmação urbanística municipal.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53492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 aproximada: 27,24 ha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Faixa de investimento: classe Premium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de referência: R$ 10.000.000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ESTATE GOVER: EG0013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5"/>
          <p:cNvSpPr/>
          <p:nvPr/>
        </p:nvSpPr>
        <p:spPr>
          <a:xfrm>
            <a:off x="548640" y="71323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Leitura executiva do ativo com foco comercial e potencial de implantação.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58368" y="1207008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Código: EG0013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Tipo: Área rural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b="1" lang="en-US" sz="112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Localização: Canela - RS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66928" y="232257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19" y="2331720"/>
            <a:ext cx="63629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 total de 27,24 ha, em região de forte apelo cênico e conexão com o Vale da Lageana e o Parque do Caracol.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66928" y="2798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31520" y="2807208"/>
            <a:ext cx="636296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do Produto orientada à natureza, permanência qualificada e baixa densidade, com validação urbanística municipal ainda necessária.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66928" y="3273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519" y="3282696"/>
            <a:ext cx="636296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duas cascatas e visuais amplos do vale, elevando percepção de exclusividade e permanência.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3749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31520" y="3758184"/>
            <a:ext cx="636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 com certidões e registros das matrículas 1.275 e 3.384, permitindo avanço de due diligence e modelagem comercial.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66928" y="4224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31520" y="4233672"/>
            <a:ext cx="61527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Faixa de investimento classe Premium. Valor de referência: R$ 10.000.000.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3961" y="944999"/>
            <a:ext cx="3728332" cy="248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3961" y="3694176"/>
            <a:ext cx="3728332" cy="24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Conheça 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6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6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rural com paisagem de forte apelo cênico, com potencial preliminar para natureza, permanência qualificada e experiências de baixa densidade.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OTO 1 (1).jpeg" id="57" name="Google Shape;57;p6"/>
          <p:cNvPicPr preferRelativeResize="0"/>
          <p:nvPr/>
        </p:nvPicPr>
        <p:blipFill rotWithShape="1">
          <a:blip r:embed="rId3">
            <a:alphaModFix/>
          </a:blip>
          <a:srcRect b="21291" l="0" r="0" t="21291"/>
          <a:stretch/>
        </p:blipFill>
        <p:spPr>
          <a:xfrm>
            <a:off x="1366345" y="822960"/>
            <a:ext cx="9133489" cy="23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82296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7840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Essência natural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7840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de vale, mata nativa e presença de água, com leitura forte de destino e contemplação.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6"/>
          <p:cNvCxnSpPr/>
          <p:nvPr/>
        </p:nvCxnSpPr>
        <p:spPr>
          <a:xfrm>
            <a:off x="969264" y="4462272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6"/>
          <p:cNvSpPr/>
          <p:nvPr/>
        </p:nvSpPr>
        <p:spPr>
          <a:xfrm>
            <a:off x="452628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68172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Potencial turístico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68172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Posicicionamento preliminar para bem-estar, gastronomia e experiencias ao ar livre, sujeito a validaçao urbanistica e ambiental.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6"/>
          <p:cNvCxnSpPr/>
          <p:nvPr/>
        </p:nvCxnSpPr>
        <p:spPr>
          <a:xfrm>
            <a:off x="4672584" y="4462272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6"/>
          <p:cNvSpPr/>
          <p:nvPr/>
        </p:nvSpPr>
        <p:spPr>
          <a:xfrm>
            <a:off x="822960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38504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38504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Documentação-base das duas matrículas, imagens de campo e referências de localização já consolidadas para estruturação inicial.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8375904" y="4462272"/>
            <a:ext cx="164592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_estate_logo_footer.png"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7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7"/>
          <p:cNvSpPr/>
          <p:nvPr/>
        </p:nvSpPr>
        <p:spPr>
          <a:xfrm>
            <a:off x="5907624" y="896112"/>
            <a:ext cx="6080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Canela/RS, em região rural de forte apelo cênico, com conexão pela região do Vale da Lageana e do Parque do Caracol.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07624" y="1655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072216" y="1664208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Inserido em paisagem de cânion.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907624" y="2130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072216" y="2139696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Vistas abertas de vale e escarpas, com leitura paisagística rara.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907624" y="2606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072216" y="2615184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Entorno de baixa ocupação, favorecendo exclusividade e experiências de destino.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907624" y="3081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072216" y="3090672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Percepção de Canela e Gramado sem perder a sensação de refúgio.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212416" y="3886200"/>
            <a:ext cx="2681740" cy="50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Região periférica – Canela/RS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88" name="Google Shape;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079" y="1944034"/>
            <a:ext cx="4694661" cy="26407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846420" y="156947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aérea da localização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reção estrutura de tópicos" id="91" name="Google Shape;91;p7"/>
          <p:cNvSpPr/>
          <p:nvPr/>
        </p:nvSpPr>
        <p:spPr>
          <a:xfrm>
            <a:off x="844296" y="4204715"/>
            <a:ext cx="368808" cy="368808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7"/>
          <p:cNvSpPr txBox="1"/>
          <p:nvPr/>
        </p:nvSpPr>
        <p:spPr>
          <a:xfrm>
            <a:off x="863079" y="5011531"/>
            <a:ext cx="35392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 e descubra o que te espera!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Dimensão do ativo e status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8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8"/>
          <p:cNvSpPr/>
          <p:nvPr/>
        </p:nvSpPr>
        <p:spPr>
          <a:xfrm>
            <a:off x="685800" y="104241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50392" y="1051560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aproximada: 27,24 ha.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85800" y="151790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50392" y="1527048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Composição documental: matrícula 1.275 com 12,202858 ha e matrícula 3.384 com 15,0366 ha.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85800" y="199339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50392" y="2002536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de Produto associadas a natureza, permanência qualificada e hospitalidade de baixa interferência, sujeita à confirmação urbanística.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85800" y="246888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850392" y="2478024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Status documental: certidões das matrículas 1.275 e 3.384, mapa, registro e imagens consolidados para etapa comercial inicial.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296084" y="6432804"/>
            <a:ext cx="4478595" cy="411480"/>
          </a:xfrm>
          <a:prstGeom prst="rect">
            <a:avLst/>
          </a:prstGeom>
          <a:solidFill>
            <a:srgbClr val="113A63"/>
          </a:solidFill>
          <a:ln cap="flat" cmpd="sng" w="12700">
            <a:solidFill>
              <a:srgbClr val="11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349241" y="6498266"/>
            <a:ext cx="6744984" cy="280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Vocação para operação de natureza, refúgio e hospitalidade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679" y="6510723"/>
            <a:ext cx="1162693" cy="26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6087" y="326232"/>
            <a:ext cx="4478594" cy="298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87" y="3429000"/>
            <a:ext cx="4478593" cy="298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Potencial construtivo e urbanístico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9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9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Leitura preliminar para orientar a due diligence técnica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85800" y="1078992"/>
            <a:ext cx="1325880" cy="320040"/>
          </a:xfrm>
          <a:prstGeom prst="roundRect">
            <a:avLst>
              <a:gd fmla="val 8571" name="adj"/>
            </a:avLst>
          </a:prstGeom>
          <a:solidFill>
            <a:srgbClr val="E9EEF2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86384" y="1161288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Zoneamento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2112265" y="1078992"/>
            <a:ext cx="2719964" cy="320040"/>
          </a:xfrm>
          <a:prstGeom prst="roundRect">
            <a:avLst>
              <a:gd fmla="val 8571" name="adj"/>
            </a:avLst>
          </a:prstGeom>
          <a:solidFill>
            <a:srgbClr val="F5F6F7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112264" y="1133856"/>
            <a:ext cx="27199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Confirmação por consulta urbanística/ DM recomendada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499616"/>
            <a:ext cx="1325880" cy="320040"/>
          </a:xfrm>
          <a:prstGeom prst="roundRect">
            <a:avLst>
              <a:gd fmla="val 8571" name="adj"/>
            </a:avLst>
          </a:prstGeom>
          <a:solidFill>
            <a:srgbClr val="E9EEF2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86384" y="1581912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Ocupação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112264" y="1499616"/>
            <a:ext cx="2719964" cy="320040"/>
          </a:xfrm>
          <a:prstGeom prst="roundRect">
            <a:avLst>
              <a:gd fmla="val 8571" name="adj"/>
            </a:avLst>
          </a:prstGeom>
          <a:solidFill>
            <a:srgbClr val="F5F6F7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103270" y="1549908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Baixa densidade e implantação de baixa interferência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85800" y="1920240"/>
            <a:ext cx="1325880" cy="320040"/>
          </a:xfrm>
          <a:prstGeom prst="roundRect">
            <a:avLst>
              <a:gd fmla="val 8571" name="adj"/>
            </a:avLst>
          </a:prstGeom>
          <a:solidFill>
            <a:srgbClr val="A5C7DD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786384" y="2002536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Índices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103271" y="1920240"/>
            <a:ext cx="2719964" cy="320040"/>
          </a:xfrm>
          <a:prstGeom prst="roundRect">
            <a:avLst>
              <a:gd fmla="val 8571" name="adj"/>
            </a:avLst>
          </a:prstGeom>
          <a:solidFill>
            <a:srgbClr val="F5F6F7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2112263" y="1975104"/>
            <a:ext cx="2710971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Definição sujeita à viabilidade municipal e ambiental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85800" y="2340864"/>
            <a:ext cx="1325880" cy="320040"/>
          </a:xfrm>
          <a:prstGeom prst="roundRect">
            <a:avLst>
              <a:gd fmla="val 8571" name="adj"/>
            </a:avLst>
          </a:prstGeom>
          <a:solidFill>
            <a:srgbClr val="E9EEF2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786384" y="2423160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Acesso / recursos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12263" y="2340864"/>
            <a:ext cx="2719964" cy="320040"/>
          </a:xfrm>
          <a:prstGeom prst="roundRect">
            <a:avLst>
              <a:gd fmla="val 8571" name="adj"/>
            </a:avLst>
          </a:prstGeom>
          <a:solidFill>
            <a:srgbClr val="F5F6F7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2112262" y="2395728"/>
            <a:ext cx="26151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Dependem de leitura topográfica, infraestrutura e licenciamento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" y="2761488"/>
            <a:ext cx="1325880" cy="320040"/>
          </a:xfrm>
          <a:prstGeom prst="roundRect">
            <a:avLst>
              <a:gd fmla="val 8571" name="adj"/>
            </a:avLst>
          </a:prstGeom>
          <a:solidFill>
            <a:srgbClr val="E9EEF2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86384" y="284378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Configuração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112263" y="2761488"/>
            <a:ext cx="2710971" cy="320040"/>
          </a:xfrm>
          <a:prstGeom prst="roundRect">
            <a:avLst>
              <a:gd fmla="val 8571" name="adj"/>
            </a:avLst>
          </a:prstGeom>
          <a:solidFill>
            <a:srgbClr val="F5F6F7"/>
          </a:solidFill>
          <a:ln cap="flat" cmpd="sng" w="12700">
            <a:solidFill>
              <a:srgbClr val="D6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103270" y="2816352"/>
            <a:ext cx="27109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Boa ambiência para operação rural qualificada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005966" y="4710045"/>
            <a:ext cx="5487095" cy="246006"/>
          </a:xfrm>
          <a:prstGeom prst="rect">
            <a:avLst/>
          </a:prstGeom>
          <a:solidFill>
            <a:srgbClr val="C58D22"/>
          </a:solidFill>
          <a:ln cap="flat" cmpd="sng" w="12700">
            <a:solidFill>
              <a:srgbClr val="C58D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079118" y="4812791"/>
            <a:ext cx="5116934" cy="123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Potencial preliminar: turismo de natureza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05966" y="4962975"/>
            <a:ext cx="5487095" cy="246006"/>
          </a:xfrm>
          <a:prstGeom prst="rect">
            <a:avLst/>
          </a:prstGeom>
          <a:solidFill>
            <a:srgbClr val="D79F29"/>
          </a:solidFill>
          <a:ln cap="flat" cmpd="sng" w="12700">
            <a:solidFill>
              <a:srgbClr val="D79F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38278" y="5013322"/>
            <a:ext cx="5285363" cy="123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lang="en-US" sz="7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Posicionamento preliminar: baixa densidade, sujeito a validacão urbanistica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5965" y="1040202"/>
            <a:ext cx="5478103" cy="3669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Diferenciais do produto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0"/>
          <p:cNvSpPr/>
          <p:nvPr/>
        </p:nvSpPr>
        <p:spPr>
          <a:xfrm>
            <a:off x="822960" y="10972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207008" y="1069848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informadas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73394" y="1527933"/>
            <a:ext cx="2880851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815583" y="854964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980176" y="864108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 panorâmica de vale e cânion com forte valor percebido.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815583" y="1330452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980176" y="1339596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áreas de implantação observadas nas imagens de campo.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815583" y="1805940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980176" y="1815084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Elementos naturais competitivos com tese de exclusividade e privacidade operacional.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815583" y="2281428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977982" y="2199132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Ativo estruturado sobre as matrículas 1.275 e 3.384, com escala fundiária competitiva.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5815583" y="2756916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980176" y="2766060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Certidões das matrículas 1.275 e 3.384 já reunidas para avanço da due diligence.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304" y="3054096"/>
            <a:ext cx="9409373" cy="358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Escala do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1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1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Indicadores visuais para leitura comercial rápida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68680" y="117043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aproximada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do ativo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874520" y="1325880"/>
            <a:ext cx="3703320" cy="436208"/>
          </a:xfrm>
          <a:prstGeom prst="rect">
            <a:avLst/>
          </a:prstGeom>
          <a:solidFill>
            <a:srgbClr val="113A63"/>
          </a:solidFill>
          <a:ln cap="flat" cmpd="sng" w="12700">
            <a:solidFill>
              <a:srgbClr val="113A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796667" y="1461073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68680" y="18745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874519" y="1874520"/>
            <a:ext cx="2815467" cy="365760"/>
          </a:xfrm>
          <a:prstGeom prst="rect">
            <a:avLst/>
          </a:prstGeom>
          <a:solidFill>
            <a:srgbClr val="D79F29"/>
          </a:solidFill>
          <a:ln cap="flat" cmpd="sng" w="12700">
            <a:solidFill>
              <a:srgbClr val="D79F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977640" y="1963256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R$ 10 MI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960119" y="240595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874519" y="2350549"/>
            <a:ext cx="2384224" cy="293690"/>
          </a:xfrm>
          <a:prstGeom prst="rect">
            <a:avLst/>
          </a:prstGeom>
          <a:solidFill>
            <a:srgbClr val="B78A34"/>
          </a:solidFill>
          <a:ln cap="flat" cmpd="sng" w="12700">
            <a:solidFill>
              <a:srgbClr val="B78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793531" y="2455116"/>
            <a:ext cx="276778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PTP 2 (1).jpe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3766" r="3766" t="0"/>
          <a:stretch/>
        </p:blipFill>
        <p:spPr>
          <a:xfrm>
            <a:off x="5655564" y="1316735"/>
            <a:ext cx="5774436" cy="351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1209368" y="5344668"/>
            <a:ext cx="9979741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750"/>
              <a:buFont typeface="Arial"/>
              <a:buNone/>
            </a:pPr>
            <a:r>
              <a:rPr i="1" lang="en-US" sz="7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i="1" lang="en-US" sz="16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total consolidada com base nas matrículas 1.275 e 3.384, sujeita à validação técnica complementar.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188" name="Google Shape;1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614517" y="2658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Condições de negócio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2"/>
          <p:cNvCxnSpPr/>
          <p:nvPr/>
        </p:nvCxnSpPr>
        <p:spPr>
          <a:xfrm>
            <a:off x="614517" y="576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2"/>
          <p:cNvSpPr/>
          <p:nvPr/>
        </p:nvSpPr>
        <p:spPr>
          <a:xfrm>
            <a:off x="631232" y="1351849"/>
            <a:ext cx="2635045" cy="558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17754" y="2030507"/>
            <a:ext cx="2635045" cy="446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R$ 10.000.000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162421" y="2338011"/>
            <a:ext cx="2116393" cy="1025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Faixa Premium, com narrativa de ativo de destino.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843117" y="3540498"/>
            <a:ext cx="3471966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2"/>
          <p:cNvSpPr/>
          <p:nvPr/>
        </p:nvSpPr>
        <p:spPr>
          <a:xfrm>
            <a:off x="3870469" y="1339837"/>
            <a:ext cx="3034235" cy="558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Estrutura flexível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188542" y="1918709"/>
            <a:ext cx="2330246" cy="446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Permuta 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parcelamento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277524" y="2525412"/>
            <a:ext cx="2627180" cy="68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Composição comercial sujeita à validação jurídica e econômica.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3523194" y="3540498"/>
            <a:ext cx="3471966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2"/>
          <p:cNvSpPr/>
          <p:nvPr/>
        </p:nvSpPr>
        <p:spPr>
          <a:xfrm>
            <a:off x="7162309" y="1244080"/>
            <a:ext cx="2522465" cy="558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Base da operação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398775" y="1969053"/>
            <a:ext cx="2104104" cy="446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Documentação-base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+ mapa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452853" y="2563172"/>
            <a:ext cx="1995948" cy="68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Due diligence necessária para confirmar estrutura final da tese e do negócio.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6438951" y="3540498"/>
            <a:ext cx="3471966" cy="0"/>
          </a:xfrm>
          <a:prstGeom prst="straightConnector1">
            <a:avLst/>
          </a:prstGeom>
          <a:noFill/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2"/>
          <p:cNvSpPr/>
          <p:nvPr/>
        </p:nvSpPr>
        <p:spPr>
          <a:xfrm>
            <a:off x="843117" y="5907712"/>
            <a:ext cx="6609736" cy="80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Estrutura comercial sujeita à validação documental, técnica e jurídica da operação.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estate_logo_footer.png" id="209" name="Google Shape;2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1997" y="6410632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cap="flat" cmpd="sng" w="12700">
            <a:solidFill>
              <a:srgbClr val="1F5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Márcio Castro Alves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CLO - Chief Legal Officer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fmla="val 14545" name="adj"/>
            </a:avLst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>
            <a:hlinkClick r:id="rId4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8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>
            <a:hlinkClick r:id="rId6"/>
          </p:cNvPr>
          <p:cNvSpPr/>
          <p:nvPr/>
        </p:nvSpPr>
        <p:spPr>
          <a:xfrm>
            <a:off x="3291839" y="4307840"/>
            <a:ext cx="26271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(51) 98138-1742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fmla="val 3871" name="adj"/>
            </a:avLst>
          </a:prstGeom>
          <a:solidFill>
            <a:srgbClr val="EAF3FA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ontact_assets/marcio_whatsapp_qr.png" id="226" name="Google Shape;226;p13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>
            <a:hlinkClick r:id="rId10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cap="flat" cmpd="sng" w="12700">
            <a:solidFill>
              <a:srgbClr val="1F5F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Karina Kuhn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Bióloga e Especialista em Licenciamento Ambiental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fmla="val 14545" name="adj"/>
            </a:avLst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>
            <a:hlinkClick r:id="rId4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8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>
            <a:hlinkClick r:id="rId6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(51) 99832-2906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fmla="val 3871" name="adj"/>
            </a:avLst>
          </a:prstGeom>
          <a:solidFill>
            <a:srgbClr val="EAF3FA"/>
          </a:solidFill>
          <a:ln cap="flat" cmpd="sng" w="12700">
            <a:solidFill>
              <a:srgbClr val="D8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44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ontact_assets/karina_whatsapp_qr.png" id="244" name="Google Shape;244;p1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4">
            <a:hlinkClick r:id="rId10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Karina - PNG" id="246" name="Google Shape;246;p14"/>
          <p:cNvSpPr/>
          <p:nvPr/>
        </p:nvSpPr>
        <p:spPr>
          <a:xfrm>
            <a:off x="5757334" y="3090334"/>
            <a:ext cx="677333" cy="677333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203200" spcFirstLastPara="1" rIns="2032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