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WhatsApp link fornecido pelo PDF do digicard do usuário.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QR code gerado a partir do link de WhatsApp.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WhatsApp link fornecido pelo PDF do digicard do usuário.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QR code gerado a partir do link de WhatsApp.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pi.whatsapp.com/send?phone=5551981381742" TargetMode="External"/><Relationship Id="rId4" Type="http://schemas.openxmlformats.org/officeDocument/2006/relationships/hyperlink" Target="https://api.whatsapp.com/send?phone=5551981381742" TargetMode="External"/><Relationship Id="rId11" Type="http://schemas.openxmlformats.org/officeDocument/2006/relationships/hyperlink" Target="https://api.whatsapp.com/send?phone=5551981381742" TargetMode="External"/><Relationship Id="rId10" Type="http://schemas.openxmlformats.org/officeDocument/2006/relationships/hyperlink" Target="https://api.whatsapp.com/send?phone=5551981381742" TargetMode="External"/><Relationship Id="rId9" Type="http://schemas.openxmlformats.org/officeDocument/2006/relationships/image" Target="../media/image1.png"/><Relationship Id="rId5" Type="http://schemas.openxmlformats.org/officeDocument/2006/relationships/hyperlink" Target="https://api.whatsapp.com/send?phone=5551981381742" TargetMode="External"/><Relationship Id="rId6" Type="http://schemas.openxmlformats.org/officeDocument/2006/relationships/hyperlink" Target="https://api.whatsapp.com/send?phone=5551981381742" TargetMode="External"/><Relationship Id="rId7" Type="http://schemas.openxmlformats.org/officeDocument/2006/relationships/hyperlink" Target="https://api.whatsapp.com/send?phone=5551981381742" TargetMode="External"/><Relationship Id="rId8" Type="http://schemas.openxmlformats.org/officeDocument/2006/relationships/hyperlink" Target="https://api.whatsapp.com/send?phone=5551981381742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pi.whatsapp.com/send?phone=5551998322906" TargetMode="External"/><Relationship Id="rId4" Type="http://schemas.openxmlformats.org/officeDocument/2006/relationships/hyperlink" Target="https://api.whatsapp.com/send?phone=5551998322906" TargetMode="External"/><Relationship Id="rId11" Type="http://schemas.openxmlformats.org/officeDocument/2006/relationships/hyperlink" Target="https://api.whatsapp.com/send?phone=5551998322906" TargetMode="External"/><Relationship Id="rId10" Type="http://schemas.openxmlformats.org/officeDocument/2006/relationships/hyperlink" Target="https://api.whatsapp.com/send?phone=5551998322906" TargetMode="External"/><Relationship Id="rId9" Type="http://schemas.openxmlformats.org/officeDocument/2006/relationships/image" Target="../media/image2.png"/><Relationship Id="rId5" Type="http://schemas.openxmlformats.org/officeDocument/2006/relationships/hyperlink" Target="https://api.whatsapp.com/send?phone=5551998322906" TargetMode="External"/><Relationship Id="rId6" Type="http://schemas.openxmlformats.org/officeDocument/2006/relationships/hyperlink" Target="https://api.whatsapp.com/send?phone=5551998322906" TargetMode="External"/><Relationship Id="rId7" Type="http://schemas.openxmlformats.org/officeDocument/2006/relationships/hyperlink" Target="https://api.whatsapp.com/send?phone=5551998322906" TargetMode="External"/><Relationship Id="rId8" Type="http://schemas.openxmlformats.org/officeDocument/2006/relationships/hyperlink" Target="https://api.whatsapp.com/send?phone=555199832290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edesign/ppt/media/image1.jpeg"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63C">
              <a:alpha val="74901"/>
            </a:srgbClr>
          </a:solidFill>
          <a:ln cap="flat" cmpd="sng" w="12700">
            <a:solidFill>
              <a:srgbClr val="07263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3858">
              <a:alpha val="90196"/>
            </a:srgbClr>
          </a:solidFill>
          <a:ln cap="flat" cmpd="sng" w="12700">
            <a:solidFill>
              <a:srgbClr val="0B385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tmp/redesign/ppt/media/image2.png" id="15" name="Google Shape;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292608"/>
            <a:ext cx="1417320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566928" y="155448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ESTATE GOVER ÁREAS RURAIS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66928" y="2212848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Código do ativo: EG0013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566928" y="2542032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C5912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/>
          <p:nvPr/>
        </p:nvSpPr>
        <p:spPr>
          <a:xfrm>
            <a:off x="566928" y="2761488"/>
            <a:ext cx="3246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Tipo: Área rural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Localização: Canela – 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Vocação: </a:t>
            </a: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natureza, refúgio qualificado e operação de baixa densidade, sujeito à confirmação urbanística municipal. </a:t>
            </a:r>
            <a:endParaRPr b="0"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66928" y="4251960"/>
            <a:ext cx="3291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Área aproximada total: 27,24 ha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Contexto: região de forte apelo cênico e conexão com o eixo Caracol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 jurídico: documentação em estruturação via Estate Gover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Faixa de investimento: classe Premium</a:t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566928" y="5596128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informações estratégicas detalhadas deste ativo (EG0013), solicite a apresentação completa.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30352" y="32004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ESTATE GOVER: EG0013</a:t>
            </a: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530352" y="694944"/>
            <a:ext cx="1188720" cy="0"/>
          </a:xfrm>
          <a:prstGeom prst="straightConnector1">
            <a:avLst/>
          </a:prstGeom>
          <a:noFill/>
          <a:ln cap="flat" cmpd="sng" w="12700">
            <a:solidFill>
              <a:srgbClr val="157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530352" y="75895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Leitura executiva do ativo com foco comercial e potencial de implantação.</a:t>
            </a:r>
            <a:endParaRPr/>
          </a:p>
        </p:txBody>
      </p:sp>
      <p:pic>
        <p:nvPicPr>
          <p:cNvPr descr="/tmp/redesign/ppt/media/image4.png" id="30" name="Google Shape;30;p4"/>
          <p:cNvPicPr preferRelativeResize="0"/>
          <p:nvPr/>
        </p:nvPicPr>
        <p:blipFill rotWithShape="1">
          <a:blip r:embed="rId3">
            <a:alphaModFix amt="92000"/>
          </a:blip>
          <a:srcRect b="0" l="0" r="0" t="0"/>
          <a:stretch/>
        </p:blipFill>
        <p:spPr>
          <a:xfrm>
            <a:off x="10698480" y="6309360"/>
            <a:ext cx="1097280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658368" y="129844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Código: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851660" y="1279725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EG0013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58368" y="1554480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Tipo: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851660" y="1530531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Área rural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58368" y="1810512"/>
            <a:ext cx="1060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Localização: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851660" y="1792224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Canela - RS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94944" y="2212848"/>
            <a:ext cx="137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A00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C48A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68680" y="2157984"/>
            <a:ext cx="5330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Área aproximada de 27,24 ha, em região de forte apelo cênico e ambiental.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94944" y="2779776"/>
            <a:ext cx="137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A00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C48A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68680" y="2617053"/>
            <a:ext cx="522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Potencial preliminar para produto de natureza e baixa densidade, com tese comercial voltada a permanência qualificada e refúgio patrimonial, sujeito à validação urbanística e técnica. </a:t>
            </a:r>
            <a:endParaRPr b="0" sz="12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94944" y="3346704"/>
            <a:ext cx="137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A00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C48A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68680" y="3291840"/>
            <a:ext cx="5330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Presença de duas cascatas e visuais amplos de vale, elevando percepção de exclusividade.</a:t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94944" y="3913632"/>
            <a:ext cx="137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A00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C48A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68680" y="3858768"/>
            <a:ext cx="55686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Documentação em estruturação via Estate Gover para avanço de due diligence e modelagem comercial.</a:t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94944" y="4480560"/>
            <a:ext cx="137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A00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C48A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68680" y="4425696"/>
            <a:ext cx="55686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Faixa de investimento: classe Premium. Valor de referência: R$ 10.000.000.</a:t>
            </a:r>
            <a:endParaRPr b="0" sz="12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7376" y="758952"/>
            <a:ext cx="4885944" cy="2640747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 txBox="1"/>
          <p:nvPr/>
        </p:nvSpPr>
        <p:spPr>
          <a:xfrm>
            <a:off x="6785113" y="3913632"/>
            <a:ext cx="4711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Aperte na imagem!!!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530352" y="320040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Conheça o ativo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5"/>
          <p:cNvCxnSpPr/>
          <p:nvPr/>
        </p:nvCxnSpPr>
        <p:spPr>
          <a:xfrm>
            <a:off x="530352" y="694944"/>
            <a:ext cx="1188720" cy="0"/>
          </a:xfrm>
          <a:prstGeom prst="straightConnector1">
            <a:avLst/>
          </a:prstGeom>
          <a:noFill/>
          <a:ln cap="flat" cmpd="sng" w="12700">
            <a:solidFill>
              <a:srgbClr val="1576A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tmp/redesign/ppt/media/image4.png" id="56" name="Google Shape;56;p5"/>
          <p:cNvPicPr preferRelativeResize="0"/>
          <p:nvPr/>
        </p:nvPicPr>
        <p:blipFill rotWithShape="1">
          <a:blip r:embed="rId3">
            <a:alphaModFix amt="92000"/>
          </a:blip>
          <a:srcRect b="0" l="0" r="0" t="0"/>
          <a:stretch/>
        </p:blipFill>
        <p:spPr>
          <a:xfrm>
            <a:off x="10698480" y="6309360"/>
            <a:ext cx="1097280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4846320" y="347472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Área rural com paisagem de serra e forte apelo cênico, com potencial para turismo de natureza, reserva patrimonial e operação de hospitalidade.</a:t>
            </a:r>
            <a:endParaRPr/>
          </a:p>
        </p:txBody>
      </p:sp>
      <p:pic>
        <p:nvPicPr>
          <p:cNvPr descr="/mnt/data/FOTO 1 (1).jpeg" id="58" name="Google Shape;58;p5"/>
          <p:cNvPicPr preferRelativeResize="0"/>
          <p:nvPr/>
        </p:nvPicPr>
        <p:blipFill rotWithShape="1">
          <a:blip r:embed="rId4">
            <a:alphaModFix/>
          </a:blip>
          <a:srcRect b="31796" l="0" r="0" t="31796"/>
          <a:stretch/>
        </p:blipFill>
        <p:spPr>
          <a:xfrm>
            <a:off x="713232" y="914400"/>
            <a:ext cx="10195560" cy="18745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804672" y="3218688"/>
            <a:ext cx="91440" cy="91440"/>
          </a:xfrm>
          <a:prstGeom prst="ellipse">
            <a:avLst/>
          </a:prstGeom>
          <a:solidFill>
            <a:srgbClr val="C5912F"/>
          </a:solidFill>
          <a:ln cap="flat" cmpd="sng" w="12700">
            <a:solidFill>
              <a:srgbClr val="C59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05840" y="312724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Essência natural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005840" y="3346704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lang="en-US" sz="11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Vista de vale, mata nativa e presença de água, com leitura forte de destino e contemplação.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804672" y="4540725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A7B7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5"/>
          <p:cNvSpPr/>
          <p:nvPr/>
        </p:nvSpPr>
        <p:spPr>
          <a:xfrm>
            <a:off x="3867912" y="3218688"/>
            <a:ext cx="91440" cy="91440"/>
          </a:xfrm>
          <a:prstGeom prst="ellipse">
            <a:avLst/>
          </a:prstGeom>
          <a:solidFill>
            <a:srgbClr val="C5912F"/>
          </a:solidFill>
          <a:ln cap="flat" cmpd="sng" w="12700">
            <a:solidFill>
              <a:srgbClr val="C59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069080" y="312724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Potencial turístico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069080" y="3346703"/>
            <a:ext cx="2148840" cy="1348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lang="en-US" sz="11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Tese preliminar de Produto voltado a baixa densidade, bem-estar, gastronomia</a:t>
            </a:r>
            <a:r>
              <a:rPr lang="en-US" sz="11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e experiências ao ar livre, sujeito à confirmação urbanística ambiental. 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5"/>
          <p:cNvCxnSpPr/>
          <p:nvPr/>
        </p:nvCxnSpPr>
        <p:spPr>
          <a:xfrm>
            <a:off x="4023360" y="4540725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A7B7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5"/>
          <p:cNvSpPr/>
          <p:nvPr/>
        </p:nvSpPr>
        <p:spPr>
          <a:xfrm>
            <a:off x="6931152" y="3218688"/>
            <a:ext cx="91440" cy="91440"/>
          </a:xfrm>
          <a:prstGeom prst="ellipse">
            <a:avLst/>
          </a:prstGeom>
          <a:solidFill>
            <a:srgbClr val="C5912F"/>
          </a:solidFill>
          <a:ln cap="flat" cmpd="sng" w="12700">
            <a:solidFill>
              <a:srgbClr val="C59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132320" y="312724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Base documental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132320" y="3346704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Documentação-base, imagens de campo e referências de localização já consolidadas para estruturação inicial.</a:t>
            </a:r>
            <a:endParaRPr/>
          </a:p>
        </p:txBody>
      </p:sp>
      <p:cxnSp>
        <p:nvCxnSpPr>
          <p:cNvPr id="70" name="Google Shape;70;p5"/>
          <p:cNvCxnSpPr/>
          <p:nvPr/>
        </p:nvCxnSpPr>
        <p:spPr>
          <a:xfrm>
            <a:off x="7022592" y="4540725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A7B7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5"/>
          <p:cNvSpPr/>
          <p:nvPr/>
        </p:nvSpPr>
        <p:spPr>
          <a:xfrm>
            <a:off x="694943" y="5335325"/>
            <a:ext cx="10126781" cy="333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Para informações estratégicas detalhadas deste ativo (EG0013), solicite a apresentação completa!</a:t>
            </a:r>
            <a:endParaRPr b="1" sz="12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8E4EF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cap="flat" cmpd="sng" w="12700">
            <a:solidFill>
              <a:srgbClr val="1F5F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ESTATE GOVER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44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Márcio Castro Alves</a:t>
            </a:r>
            <a:endParaRPr sz="4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CLO - Chief Legal Officer</a:t>
            </a:r>
            <a:endParaRPr sz="2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4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Contato rápido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>
            <a:hlinkClick r:id="rId3"/>
          </p:cNvPr>
          <p:cNvSpPr/>
          <p:nvPr/>
        </p:nvSpPr>
        <p:spPr>
          <a:xfrm>
            <a:off x="975360" y="4023360"/>
            <a:ext cx="5451944" cy="1117600"/>
          </a:xfrm>
          <a:prstGeom prst="roundRect">
            <a:avLst>
              <a:gd fmla="val 14545" name="adj"/>
            </a:avLst>
          </a:prstGeom>
          <a:solidFill>
            <a:srgbClr val="25D366"/>
          </a:solidFill>
          <a:ln cap="flat" cmpd="sng" w="127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>
            <a:hlinkClick r:id="rId4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8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WhatsApp</a:t>
            </a:r>
            <a:endParaRPr sz="27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>
            <a:hlinkClick r:id="rId6"/>
          </p:cNvPr>
          <p:cNvSpPr/>
          <p:nvPr/>
        </p:nvSpPr>
        <p:spPr>
          <a:xfrm>
            <a:off x="3291840" y="4307840"/>
            <a:ext cx="276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6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(51) 98138-1742</a:t>
            </a:r>
            <a:endParaRPr sz="25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fmla="val 3871" name="adj"/>
            </a:avLst>
          </a:prstGeom>
          <a:solidFill>
            <a:srgbClr val="EAF3FA"/>
          </a:solidFill>
          <a:ln cap="flat" cmpd="sng" w="12700">
            <a:solidFill>
              <a:srgbClr val="D8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4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contact_assets/marcio_whatsapp_qr.png" id="89" name="Google Shape;89;p6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24800" y="2194560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>
            <a:hlinkClick r:id="rId10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Abrir WhatsApp</a:t>
            </a:r>
            <a:endParaRPr sz="21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8E4EF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cap="flat" cmpd="sng" w="12700">
            <a:solidFill>
              <a:srgbClr val="1F5F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ESTATE GOVER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44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Karina Kuhn</a:t>
            </a:r>
            <a:endParaRPr sz="4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Bióloga e Especialista em Licenciamento Ambiental</a:t>
            </a:r>
            <a:endParaRPr sz="2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4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Contato rápido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fmla="val 14545" name="adj"/>
            </a:avLst>
          </a:prstGeom>
          <a:solidFill>
            <a:srgbClr val="25D366"/>
          </a:solidFill>
          <a:ln cap="flat" cmpd="sng" w="127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>
            <a:hlinkClick r:id="rId4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8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WhatsApp</a:t>
            </a:r>
            <a:endParaRPr sz="27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>
            <a:hlinkClick r:id="rId6"/>
          </p:cNvPr>
          <p:cNvSpPr/>
          <p:nvPr/>
        </p:nvSpPr>
        <p:spPr>
          <a:xfrm>
            <a:off x="3291840" y="4307840"/>
            <a:ext cx="23664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6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(51) 99832-2906</a:t>
            </a:r>
            <a:endParaRPr sz="25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fmla="val 3871" name="adj"/>
            </a:avLst>
          </a:prstGeom>
          <a:solidFill>
            <a:srgbClr val="EAF3FA"/>
          </a:solidFill>
          <a:ln cap="flat" cmpd="sng" w="12700">
            <a:solidFill>
              <a:srgbClr val="D8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4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contact_assets/karina_whatsapp_qr.png" id="107" name="Google Shape;107;p7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24800" y="2194560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>
            <a:hlinkClick r:id="rId10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Abrir WhatsApp</a:t>
            </a:r>
            <a:endParaRPr sz="21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Karina - PNG" id="109" name="Google Shape;109;p7"/>
          <p:cNvSpPr/>
          <p:nvPr/>
        </p:nvSpPr>
        <p:spPr>
          <a:xfrm>
            <a:off x="5757334" y="3090334"/>
            <a:ext cx="677333" cy="677333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203200" spcFirstLastPara="1" rIns="2032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