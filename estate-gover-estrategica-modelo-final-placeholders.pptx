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77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8393D-1672-D343-A673-09A8574BE80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55D28-153F-D647-835E-C6B431B50A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336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WhatsApp link fornecido pelo PDF do digicard do usuário.
- QR code gerado a partir do link de WhatsApp.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WhatsApp link fornecido pelo PDF do digicard do usuário.
- QR code gerado a partir do link de WhatsApp.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G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4160" y="64008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pi.whatsapp.com/send?phone=5551981381742" TargetMode="External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pi.whatsapp.com/send?phone=5551998322906" TargetMode="Externa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g0013_capa_work/r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0"/>
            <a:ext cx="73910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0D3E5F"/>
          </a:solidFill>
          <a:ln w="12700">
            <a:solidFill>
              <a:srgbClr val="0C3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5138928"/>
            <a:ext cx="4800600" cy="1719072"/>
          </a:xfrm>
          <a:prstGeom prst="rect">
            <a:avLst/>
          </a:prstGeom>
          <a:solidFill>
            <a:srgbClr val="0A314D">
              <a:alpha val="82000"/>
            </a:srgbClr>
          </a:solidFill>
          <a:ln w="12700">
            <a:solidFill>
              <a:srgbClr val="0A31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1" descr="/mnt/data/eg0013_capa_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94005"/>
            <a:ext cx="1417320" cy="4440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5910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 ÁREAS RURAIS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58368" y="2633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Código do ativo: {{codigo_ativo}}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57784" y="2926080"/>
            <a:ext cx="1143000" cy="0"/>
          </a:xfrm>
          <a:prstGeom prst="line">
            <a:avLst/>
          </a:prstGeom>
          <a:noFill/>
          <a:ln w="19050">
            <a:solidFill>
              <a:srgbClr val="C9A3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658368" y="318211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t>{{localizacao}} | {{tipo_ativo}} com {{chamada_capa_prudente}}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58368" y="53492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t>Área aproximada: {{area_aproximada}}</a:t>
            </a:r>
            <a:endParaRPr lang="en-US" sz="1150" dirty="0"/>
          </a:p>
          <a:p>
            <a:r>
              <a:t>Faixa de investimento: {{faixa_investimento}}</a:t>
            </a:r>
          </a:p>
          <a:p>
            <a:r>
              <a:t>Valor de referência: {{valor_referencia}}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ESTATE GOVER: {{codigo_ativo}}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Leitura executiva do ativo com foco comercial e potencial de implantação.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2103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t>Código: {{codigo_ativo}}</a:t>
            </a:r>
            <a:endParaRPr lang="en-US" sz="1120" dirty="0"/>
          </a:p>
          <a:p>
            <a:r>
              <a:t>Tipo: {{tipo_ativo}}</a:t>
            </a:r>
          </a:p>
          <a:p>
            <a:r>
              <a:t>Localização: {{localizacao}}</a:t>
            </a:r>
          </a:p>
        </p:txBody>
      </p:sp>
      <p:sp>
        <p:nvSpPr>
          <p:cNvPr id="6" name="Text 4"/>
          <p:cNvSpPr/>
          <p:nvPr/>
        </p:nvSpPr>
        <p:spPr>
          <a:xfrm>
            <a:off x="566928" y="232257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8D22"/>
                </a:solidFill>
              </a:rPr>
              <a:t>•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19" y="2331720"/>
            <a:ext cx="63629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{{bullet_executivo_1}}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66928" y="279806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8D22"/>
                </a:solidFill>
              </a:rPr>
              <a:t>•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6362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{{bullet_executivo_2}}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66928" y="32735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8D22"/>
                </a:solidFill>
              </a:rPr>
              <a:t>•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31519" y="3282696"/>
            <a:ext cx="63629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{{bullet_executivo_3}}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566928" y="37490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8D22"/>
                </a:solidFill>
              </a:rPr>
              <a:t>•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31520" y="3758184"/>
            <a:ext cx="636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{{bullet_executivo_4}}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66928" y="4224528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C58D22"/>
                </a:solidFill>
              </a:rPr>
              <a:t>•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31520" y="4233672"/>
            <a:ext cx="6152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Faixa de investimento {{faixa_investimento}}. Valor de referência: {{valor_referencia}}.</a:t>
            </a:r>
            <a:endParaRPr lang="en-US" sz="1120" dirty="0"/>
          </a:p>
        </p:txBody>
      </p:sp>
      <p:pic>
        <p:nvPicPr>
          <p:cNvPr id="20" name="Picture 19" descr="_estate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CE5DA112-A02B-768F-EE20-29547984E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961" y="944999"/>
            <a:ext cx="3728332" cy="248400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41FEEBF-43B1-F3B5-E0C3-98E131B98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961" y="3694176"/>
            <a:ext cx="3728332" cy="2484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Conheça o ativo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{{resumo_conheca_ativo}}</a:t>
            </a:r>
            <a:endParaRPr lang="en-US" sz="900" dirty="0"/>
          </a:p>
        </p:txBody>
      </p:sp>
      <p:pic>
        <p:nvPicPr>
          <p:cNvPr id="5" name="Image 0" descr="/mnt/data/FOTO 1 (1).jpeg"/>
          <p:cNvPicPr>
            <a:picLocks noChangeAspect="1"/>
          </p:cNvPicPr>
          <p:nvPr/>
        </p:nvPicPr>
        <p:blipFill>
          <a:blip r:embed="rId3"/>
          <a:srcRect t="21291" b="21291"/>
          <a:stretch/>
        </p:blipFill>
        <p:spPr>
          <a:xfrm>
            <a:off x="1366345" y="822960"/>
            <a:ext cx="9133489" cy="23591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40156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8D22"/>
                </a:solidFill>
              </a:rPr>
              <a:t>•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78408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13F"/>
                </a:solidFill>
              </a:rPr>
              <a:t>Essência natural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78408" y="36758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{{essencia_natural}}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69264" y="4462272"/>
            <a:ext cx="164592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526280" y="340156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8D22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81728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13F"/>
                </a:solidFill>
              </a:rPr>
              <a:t>Potencial turístico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681728" y="36758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{{potencial_turistico_prudente}}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72584" y="4462272"/>
            <a:ext cx="164592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229600" y="340156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8D22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385048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313F"/>
                </a:solidFill>
              </a:rPr>
              <a:t>Base documental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385048" y="36758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{{base_documental}}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75904" y="4462272"/>
            <a:ext cx="164592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Picture 17" descr="_estate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Localização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907624" y="89611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{{texto_localizacao}}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07624" y="165506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8D22"/>
                </a:solidFill>
              </a:rPr>
              <a:t>•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72216" y="1664208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{{localizacao_bullet_1}}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07624" y="21305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8D22"/>
                </a:solidFill>
              </a:rPr>
              <a:t>•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72216" y="2139696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{{localizacao_bullet_2}}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07624" y="26060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8D22"/>
                </a:solidFill>
              </a:rPr>
              <a:t>•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72216" y="2615184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{{localizacao_bullet_3}}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07624" y="3081528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8D22"/>
                </a:solidFill>
              </a:rPr>
              <a:t>•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72216" y="3090672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{{localizacao_bullet_4}}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212416" y="3886200"/>
            <a:ext cx="2681740" cy="50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{{rotulo_localizacao}}</a:t>
            </a:r>
            <a:endParaRPr lang="en-US" sz="820" dirty="0"/>
          </a:p>
        </p:txBody>
      </p:sp>
      <p:pic>
        <p:nvPicPr>
          <p:cNvPr id="17" name="Picture 16" descr="_estate_logo_foo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  <p:pic>
        <p:nvPicPr>
          <p:cNvPr id="18" name="EG0013_Video_ÁreaRural_Canela_Limeira_27,29ha (1).mp4">
            <a:hlinkClick r:id="" action="ppaction://media"/>
            <a:extLst>
              <a:ext uri="{FF2B5EF4-FFF2-40B4-BE49-F238E27FC236}">
                <a16:creationId xmlns:a16="http://schemas.microsoft.com/office/drawing/2014/main" id="{4F3F0553-F950-497E-375E-63E79611E7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3079" y="1944034"/>
            <a:ext cx="4694661" cy="2640747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2A488380-99FA-7504-2C05-5B3747E7DF4B}"/>
              </a:ext>
            </a:extLst>
          </p:cNvPr>
          <p:cNvSpPr/>
          <p:nvPr/>
        </p:nvSpPr>
        <p:spPr>
          <a:xfrm>
            <a:off x="846420" y="156947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Vista </a:t>
            </a:r>
            <a:r>
              <a:rPr lang="en-US" sz="1050" dirty="0" err="1">
                <a:solidFill>
                  <a:srgbClr val="5B6770"/>
                </a:solidFill>
              </a:rPr>
              <a:t>aérea</a:t>
            </a:r>
            <a:r>
              <a:rPr lang="en-US" sz="1050" dirty="0">
                <a:solidFill>
                  <a:srgbClr val="5B6770"/>
                </a:solidFill>
              </a:rPr>
              <a:t> da </a:t>
            </a:r>
            <a:r>
              <a:rPr lang="en-US" sz="1050" dirty="0" err="1">
                <a:solidFill>
                  <a:srgbClr val="5B6770"/>
                </a:solidFill>
              </a:rPr>
              <a:t>localização</a:t>
            </a:r>
            <a:endParaRPr lang="en-US" sz="1050" dirty="0"/>
          </a:p>
        </p:txBody>
      </p:sp>
      <p:pic>
        <p:nvPicPr>
          <p:cNvPr id="23" name="Gráfico 22" descr="Direção estrutura de tópicos">
            <a:extLst>
              <a:ext uri="{FF2B5EF4-FFF2-40B4-BE49-F238E27FC236}">
                <a16:creationId xmlns:a16="http://schemas.microsoft.com/office/drawing/2014/main" id="{FC9E0899-EBEC-E87B-DAEE-E3B767BB9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296" y="4204715"/>
            <a:ext cx="368808" cy="36880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B075C31-1606-15DD-5886-A87C273ED39D}"/>
              </a:ext>
            </a:extLst>
          </p:cNvPr>
          <p:cNvSpPr txBox="1"/>
          <p:nvPr/>
        </p:nvSpPr>
        <p:spPr>
          <a:xfrm>
            <a:off x="863079" y="5011531"/>
            <a:ext cx="3539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Clique na imagem e descubra o que te espera!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02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Dimensão do ativo e status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10424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D22"/>
                </a:solidFill>
              </a:rPr>
              <a:t>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0392" y="1051560"/>
            <a:ext cx="4498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Área aproximada: {{area_aproximada}}.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1790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D22"/>
                </a:solidFill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527048"/>
            <a:ext cx="5107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t>Composição documental, limites e confrontações: {{composicao_documental}}.</a:t>
            </a:r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D22"/>
                </a:solidFill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2002536"/>
            <a:ext cx="5107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{{tese_produto_prudente}}</a:t>
            </a:r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8D22"/>
                </a:solidFill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2478024"/>
            <a:ext cx="5107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Status documental: {{status_documental}}.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96084" y="6432804"/>
            <a:ext cx="4478595" cy="411480"/>
          </a:xfrm>
          <a:prstGeom prst="rect">
            <a:avLst/>
          </a:prstGeom>
          <a:solidFill>
            <a:srgbClr val="113A63"/>
          </a:solidFill>
          <a:ln w="12700">
            <a:solidFill>
              <a:srgbClr val="113A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349241" y="6498266"/>
            <a:ext cx="6744984" cy="28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{{potencial_preliminar_chamada}}</a:t>
            </a:r>
            <a:endParaRPr lang="en-US" sz="1100" dirty="0"/>
          </a:p>
        </p:txBody>
      </p:sp>
      <p:pic>
        <p:nvPicPr>
          <p:cNvPr id="15" name="Picture 14" descr="_estate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79" y="6510723"/>
            <a:ext cx="1162693" cy="26809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12BE040-CB03-3D8F-9FCC-4746DCFF6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87" y="326232"/>
            <a:ext cx="4478594" cy="298386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C5A6D24A-933E-48E7-5CF9-43778B3AF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87" y="3429000"/>
            <a:ext cx="4478593" cy="29838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Potencial construtivo e urbanístico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Leitura preliminar para orientar a due diligence técnica do ativo.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078992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116128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3A63"/>
                </a:solidFill>
              </a:rPr>
              <a:t>Zoneamento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112265" y="1078992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2112264" y="1133856"/>
            <a:ext cx="27199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{{zoneamento_status}}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99616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86384" y="158191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3A63"/>
                </a:solidFill>
              </a:rPr>
              <a:t>Ocupação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112264" y="1499616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103270" y="154990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{{ocupacao_status}}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1920240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A5C7DD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86384" y="200253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3A63"/>
                </a:solidFill>
              </a:rPr>
              <a:t>Índices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103271" y="1920240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112263" y="1975104"/>
            <a:ext cx="271097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{{indices_status}}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340864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86384" y="242316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3A63"/>
                </a:solidFill>
              </a:rPr>
              <a:t>Acesso / recursos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112263" y="2340864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112262" y="2395728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{{acesso_recursos_status}}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2761488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86384" y="284378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3A63"/>
                </a:solidFill>
              </a:rPr>
              <a:t>Configuração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112263" y="2761488"/>
            <a:ext cx="2710971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>
            <a:solidFill>
              <a:srgbClr val="D6DE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103270" y="2816352"/>
            <a:ext cx="27109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{{configuracao_status}}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05966" y="4710045"/>
            <a:ext cx="5487095" cy="246006"/>
          </a:xfrm>
          <a:prstGeom prst="rect">
            <a:avLst/>
          </a:prstGeom>
          <a:solidFill>
            <a:srgbClr val="C58D22"/>
          </a:solidFill>
          <a:ln w="12700">
            <a:solidFill>
              <a:srgbClr val="C58D2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7" name="Text 24"/>
          <p:cNvSpPr/>
          <p:nvPr/>
        </p:nvSpPr>
        <p:spPr>
          <a:xfrm>
            <a:off x="5079118" y="4812791"/>
            <a:ext cx="5116934" cy="123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Potencial preliminar: {{potencial_preliminar}}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005966" y="4962975"/>
            <a:ext cx="5487095" cy="246006"/>
          </a:xfrm>
          <a:prstGeom prst="rect">
            <a:avLst/>
          </a:prstGeom>
          <a:solidFill>
            <a:srgbClr val="D79F29"/>
          </a:solidFill>
          <a:ln w="12700">
            <a:solidFill>
              <a:srgbClr val="D79F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038278" y="5013322"/>
            <a:ext cx="5285363" cy="123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Posicionamento preliminar: {{posicionamento_preliminar}}</a:t>
            </a:r>
            <a:endParaRPr lang="en-US" sz="780" dirty="0"/>
          </a:p>
        </p:txBody>
      </p:sp>
      <p:pic>
        <p:nvPicPr>
          <p:cNvPr id="30" name="Picture 29" descr="_estate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31D21813-3B2B-385E-699C-1726F229E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965" y="1040202"/>
            <a:ext cx="5478103" cy="3669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Diferenciais do produto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{{indicador_1_numero}}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07008" y="10698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{{indicador_1_rotulo}}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73394" y="1527933"/>
            <a:ext cx="28808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{{indicador_2}}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15583" y="854964"/>
            <a:ext cx="162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8D22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80176" y="864108"/>
            <a:ext cx="5543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{{diferencial_1}}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15583" y="1330452"/>
            <a:ext cx="162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8D22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0176" y="1339596"/>
            <a:ext cx="5543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{{diferencial_2}}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15583" y="1805940"/>
            <a:ext cx="162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8D22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0176" y="1815084"/>
            <a:ext cx="5543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{{diferencial_3}}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15583" y="2281428"/>
            <a:ext cx="162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8D22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77982" y="2199132"/>
            <a:ext cx="5543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t>{{diferencial_4}}</a:t>
            </a:r>
          </a:p>
        </p:txBody>
      </p:sp>
      <p:sp>
        <p:nvSpPr>
          <p:cNvPr id="16" name="Text 14"/>
          <p:cNvSpPr/>
          <p:nvPr/>
        </p:nvSpPr>
        <p:spPr>
          <a:xfrm>
            <a:off x="5815583" y="2756916"/>
            <a:ext cx="1623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8D22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0176" y="2766060"/>
            <a:ext cx="5543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{{diferencial_5}}</a:t>
            </a:r>
            <a:endParaRPr lang="en-US" sz="1000" dirty="0"/>
          </a:p>
        </p:txBody>
      </p:sp>
      <p:pic>
        <p:nvPicPr>
          <p:cNvPr id="21" name="Picture 20" descr="_estate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4946AA8-246D-647E-6BAC-CC51CF1FB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304" y="3054096"/>
            <a:ext cx="9409373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do ativo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Indicadores visuais para leitura comercial rápida do ativo.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11704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Área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aproximada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do ativo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325880"/>
            <a:ext cx="3703320" cy="436208"/>
          </a:xfrm>
          <a:prstGeom prst="rect">
            <a:avLst/>
          </a:prstGeom>
          <a:solidFill>
            <a:srgbClr val="113A63"/>
          </a:solidFill>
          <a:ln w="12700">
            <a:solidFill>
              <a:srgbClr val="113A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796667" y="1461073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{{area_aproximada}}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Valor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referência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19" y="1874520"/>
            <a:ext cx="2815467" cy="365760"/>
          </a:xfrm>
          <a:prstGeom prst="rect">
            <a:avLst/>
          </a:prstGeom>
          <a:solidFill>
            <a:srgbClr val="D79F29"/>
          </a:solidFill>
          <a:ln w="12700">
            <a:solidFill>
              <a:srgbClr val="D79F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977640" y="196325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{{valor_referencia_resumido}}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19" y="240595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22313F"/>
                </a:solidFill>
              </a:rPr>
              <a:t>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74519" y="2350549"/>
            <a:ext cx="2384224" cy="293690"/>
          </a:xfrm>
          <a:prstGeom prst="rect">
            <a:avLst/>
          </a:prstGeom>
          <a:solidFill>
            <a:srgbClr val="B78A34"/>
          </a:solidFill>
          <a:ln w="12700">
            <a:solidFill>
              <a:srgbClr val="B78A3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" name="Text 11"/>
          <p:cNvSpPr/>
          <p:nvPr/>
        </p:nvSpPr>
        <p:spPr>
          <a:xfrm>
            <a:off x="3793531" y="2455116"/>
            <a:ext cx="276778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{{status_resumido}}</a:t>
            </a:r>
            <a:endParaRPr lang="en-US" sz="800" dirty="0"/>
          </a:p>
        </p:txBody>
      </p:sp>
      <p:pic>
        <p:nvPicPr>
          <p:cNvPr id="14" name="Image 0" descr="/mnt/data/FPTP 2 (1).jpeg"/>
          <p:cNvPicPr>
            <a:picLocks noChangeAspect="1"/>
          </p:cNvPicPr>
          <p:nvPr/>
        </p:nvPicPr>
        <p:blipFill>
          <a:blip r:embed="rId3"/>
          <a:srcRect l="3766" r="3766"/>
          <a:stretch/>
        </p:blipFill>
        <p:spPr>
          <a:xfrm>
            <a:off x="5655564" y="1316735"/>
            <a:ext cx="5774436" cy="35126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09368" y="5344668"/>
            <a:ext cx="997974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* {{nota_escala}}</a:t>
            </a:r>
            <a:endParaRPr lang="en-US" sz="1600" dirty="0"/>
          </a:p>
        </p:txBody>
      </p:sp>
      <p:pic>
        <p:nvPicPr>
          <p:cNvPr id="16" name="Picture 15" descr="_estate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680" y="6400800"/>
            <a:ext cx="100584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517" y="265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Condições de negócio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14517" y="576760"/>
            <a:ext cx="1143000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4" name="Text 2"/>
          <p:cNvSpPr/>
          <p:nvPr/>
        </p:nvSpPr>
        <p:spPr>
          <a:xfrm>
            <a:off x="631232" y="1351849"/>
            <a:ext cx="2635045" cy="558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A63"/>
                </a:solidFill>
              </a:rPr>
              <a:t>Valor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3A63"/>
                </a:solidFill>
              </a:rPr>
              <a:t>referência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7754" y="2030507"/>
            <a:ext cx="2635045" cy="44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{{valor_referencia}}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62421" y="2338011"/>
            <a:ext cx="2116393" cy="102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{{narrativa_valor}}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3117" y="3540498"/>
            <a:ext cx="3471966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 sz="1200" dirty="0"/>
          </a:p>
        </p:txBody>
      </p:sp>
      <p:sp>
        <p:nvSpPr>
          <p:cNvPr id="8" name="Text 6"/>
          <p:cNvSpPr/>
          <p:nvPr/>
        </p:nvSpPr>
        <p:spPr>
          <a:xfrm>
            <a:off x="3870469" y="1339837"/>
            <a:ext cx="3034235" cy="558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{{estrutura_comercial_titulo}}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88542" y="1918709"/>
            <a:ext cx="2330246" cy="44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{{estrutura_comercial_resumo}}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77524" y="2525412"/>
            <a:ext cx="2627180" cy="68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{{estrutura_comercial_observacao}}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3194" y="3540498"/>
            <a:ext cx="3471966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 sz="1200" dirty="0"/>
          </a:p>
        </p:txBody>
      </p:sp>
      <p:sp>
        <p:nvSpPr>
          <p:cNvPr id="12" name="Text 10"/>
          <p:cNvSpPr/>
          <p:nvPr/>
        </p:nvSpPr>
        <p:spPr>
          <a:xfrm>
            <a:off x="7162309" y="1244080"/>
            <a:ext cx="2522465" cy="558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113A63"/>
                </a:solidFill>
              </a:rPr>
              <a:t>Base da operação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98775" y="1969053"/>
            <a:ext cx="2104104" cy="44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{{base_operacao_resumo}}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853" y="2563172"/>
            <a:ext cx="1995948" cy="68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{{due_diligence_observacao}}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38951" y="3540498"/>
            <a:ext cx="3471966" cy="0"/>
          </a:xfrm>
          <a:prstGeom prst="line">
            <a:avLst/>
          </a:prstGeom>
          <a:noFill/>
          <a:ln w="12700">
            <a:solidFill>
              <a:srgbClr val="C9D3DC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7" name="Text 14"/>
          <p:cNvSpPr/>
          <p:nvPr/>
        </p:nvSpPr>
        <p:spPr>
          <a:xfrm>
            <a:off x="843117" y="5907712"/>
            <a:ext cx="6609736" cy="8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{{rodape_condicoes_prudente}}</a:t>
            </a:r>
            <a:endParaRPr lang="en-US" sz="1200" dirty="0"/>
          </a:p>
        </p:txBody>
      </p:sp>
      <p:pic>
        <p:nvPicPr>
          <p:cNvPr id="18" name="Picture 17" descr="_estate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997" y="6410632"/>
            <a:ext cx="1005840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4000"/>
          </a:p>
        </p:txBody>
      </p:sp>
      <p:sp>
        <p:nvSpPr>
          <p:cNvPr id="3" name="Shape 1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>
            <a:solidFill>
              <a:srgbClr val="1F5F93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4" name="Text 2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5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4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Márcio Castro Alves</a:t>
            </a:r>
            <a:endParaRPr lang="en-US" sz="4444" dirty="0"/>
          </a:p>
        </p:txBody>
      </p:sp>
      <p:sp>
        <p:nvSpPr>
          <p:cNvPr id="6" name="Text 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33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 - Chief Legal Officer</a:t>
            </a:r>
            <a:endParaRPr lang="en-US" sz="2333" dirty="0"/>
          </a:p>
        </p:txBody>
      </p:sp>
      <p:sp>
        <p:nvSpPr>
          <p:cNvPr id="7" name="Text 5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44" b="1" dirty="0">
                <a:solidFill>
                  <a:srgbClr val="1F5F93"/>
                </a:solidFill>
              </a:rPr>
              <a:t>Contato rápido</a:t>
            </a:r>
            <a:endParaRPr lang="en-US" sz="2444" dirty="0"/>
          </a:p>
        </p:txBody>
      </p:sp>
      <p:sp>
        <p:nvSpPr>
          <p:cNvPr id="8" name="Shape 6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78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</a:t>
            </a:r>
            <a:endParaRPr lang="en-US" sz="2778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291839" y="4307840"/>
            <a:ext cx="26271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6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(51) 98138-1742</a:t>
            </a:r>
            <a:endParaRPr lang="en-US" sz="2556" dirty="0"/>
          </a:p>
        </p:txBody>
      </p:sp>
      <p:sp>
        <p:nvSpPr>
          <p:cNvPr id="12" name="Shape 10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13" name="Text 11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44" b="1" dirty="0">
                <a:solidFill>
                  <a:srgbClr val="1F5F93"/>
                </a:solidFill>
              </a:rPr>
              <a:t>QR Code</a:t>
            </a:r>
            <a:endParaRPr lang="en-US" sz="2444" dirty="0"/>
          </a:p>
        </p:txBody>
      </p:sp>
      <p:pic>
        <p:nvPicPr>
          <p:cNvPr id="14" name="Image 0" descr="/mnt/data/contact_assets/marcio_whatsapp_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194560"/>
            <a:ext cx="2133600" cy="2133600"/>
          </a:xfrm>
          <a:prstGeom prst="rect">
            <a:avLst/>
          </a:prstGeom>
        </p:spPr>
      </p:pic>
      <p:sp>
        <p:nvSpPr>
          <p:cNvPr id="15" name="Text 12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11" u="sng" dirty="0">
                <a:solidFill>
                  <a:srgbClr val="5B6B7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WhatsApp</a:t>
            </a:r>
            <a:endParaRPr lang="en-US" sz="21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4000"/>
          </a:p>
        </p:txBody>
      </p:sp>
      <p:sp>
        <p:nvSpPr>
          <p:cNvPr id="3" name="Shape 1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>
            <a:solidFill>
              <a:srgbClr val="1F5F93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4" name="Text 2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5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4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Karina Kuhn</a:t>
            </a:r>
            <a:endParaRPr lang="en-US" sz="4444" dirty="0"/>
          </a:p>
        </p:txBody>
      </p:sp>
      <p:sp>
        <p:nvSpPr>
          <p:cNvPr id="6" name="Text 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33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Bióloga e Especialista em Licenciamento Ambiental</a:t>
            </a:r>
            <a:endParaRPr lang="en-US" sz="2333" dirty="0"/>
          </a:p>
        </p:txBody>
      </p:sp>
      <p:sp>
        <p:nvSpPr>
          <p:cNvPr id="7" name="Text 5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44" b="1" dirty="0">
                <a:solidFill>
                  <a:srgbClr val="1F5F93"/>
                </a:solidFill>
              </a:rPr>
              <a:t>Contato rápido</a:t>
            </a:r>
            <a:endParaRPr lang="en-US" sz="2444" dirty="0"/>
          </a:p>
        </p:txBody>
      </p:sp>
      <p:sp>
        <p:nvSpPr>
          <p:cNvPr id="8" name="Shape 6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78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</a:t>
            </a:r>
            <a:endParaRPr lang="en-US" sz="2778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291840" y="4307840"/>
            <a:ext cx="236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6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(51) 99832-2906</a:t>
            </a:r>
            <a:endParaRPr lang="en-US" sz="2556" dirty="0"/>
          </a:p>
        </p:txBody>
      </p:sp>
      <p:sp>
        <p:nvSpPr>
          <p:cNvPr id="12" name="Shape 10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13" name="Text 11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44" b="1" dirty="0">
                <a:solidFill>
                  <a:srgbClr val="1F5F93"/>
                </a:solidFill>
              </a:rPr>
              <a:t>QR Code</a:t>
            </a:r>
            <a:endParaRPr lang="en-US" sz="2444" dirty="0"/>
          </a:p>
        </p:txBody>
      </p:sp>
      <p:pic>
        <p:nvPicPr>
          <p:cNvPr id="14" name="Image 0" descr="/mnt/data/contact_assets/karina_whatsapp_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194560"/>
            <a:ext cx="2133600" cy="2133600"/>
          </a:xfrm>
          <a:prstGeom prst="rect">
            <a:avLst/>
          </a:prstGeom>
        </p:spPr>
      </p:pic>
      <p:sp>
        <p:nvSpPr>
          <p:cNvPr id="15" name="Text 12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11" u="sng" dirty="0">
                <a:solidFill>
                  <a:srgbClr val="5B6B7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WhatsApp</a:t>
            </a:r>
            <a:endParaRPr lang="en-US" sz="2111" dirty="0"/>
          </a:p>
        </p:txBody>
      </p:sp>
      <p:sp>
        <p:nvSpPr>
          <p:cNvPr id="16" name="AutoShape 2" descr="Karina - PNG">
            <a:extLst>
              <a:ext uri="{FF2B5EF4-FFF2-40B4-BE49-F238E27FC236}">
                <a16:creationId xmlns:a16="http://schemas.microsoft.com/office/drawing/2014/main" id="{A1B09EB7-95DD-C7A4-1F4C-B4BE49CC74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57334" y="3090334"/>
            <a:ext cx="677333" cy="6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203200" tIns="101600" rIns="203200" bIns="101600" numCol="1" anchor="t" anchorCtr="0" compatLnSpc="1">
            <a:prstTxWarp prst="textNoShape">
              <a:avLst/>
            </a:prstTxWarp>
          </a:bodyPr>
          <a:lstStyle/>
          <a:p>
            <a:endParaRPr 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826</Words>
  <Application>Microsoft Macintosh PowerPoint</Application>
  <PresentationFormat>Widescreen</PresentationFormat>
  <Paragraphs>139</Paragraphs>
  <Slides>11</Slides>
  <Notes>11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Estate Gover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EG0013 Canela Estratégica</dc:title>
  <dc:subject>EG0013 Canela - apresentação estratégica</dc:subject>
  <dc:creator>OpenAI</dc:creator>
  <cp:lastModifiedBy>Karina Kuhn</cp:lastModifiedBy>
  <cp:revision>7</cp:revision>
  <dcterms:created xsi:type="dcterms:W3CDTF">2026-03-17T09:50:43Z</dcterms:created>
  <dcterms:modified xsi:type="dcterms:W3CDTF">2026-04-04T17:28:56Z</dcterms:modified>
</cp:coreProperties>
</file>